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4"/>
    <p:sldMasterId id="2147483719" r:id="rId5"/>
    <p:sldMasterId id="2147483717" r:id="rId6"/>
    <p:sldMasterId id="2147483731" r:id="rId7"/>
  </p:sldMasterIdLst>
  <p:notesMasterIdLst>
    <p:notesMasterId r:id="rId9"/>
  </p:notesMasterIdLst>
  <p:handoutMasterIdLst>
    <p:handoutMasterId r:id="rId10"/>
  </p:handoutMasterIdLst>
  <p:sldIdLst>
    <p:sldId id="5089" r:id="rId8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535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82D89285-1F65-B137-317A-8B821DB2018E}" name="Tom Hammond" initials="TH" userId="3c59fc242f55c547" providerId="Windows Live"/>
  <p188:author id="{91BA688D-396F-CF16-5882-465976702DDF}" name="Tom Hammond" initials="TH" userId="S::thammond@evolvecf.co.uk::5d9ad53d-e90e-4671-a12a-f36f916a50f4" providerId="AD"/>
  <p188:author id="{58079F9C-8FD2-1008-E67B-8FF4C7702F61}" name="Shivan Vallabh" initials="SV" userId="S::svallabh@evolvecf.co.uk::556d6d9f-066d-499c-adfb-ec2fac6e68aa" providerId="AD"/>
  <p188:author id="{2FBDD7E1-124B-AFD7-5E7D-423CB8A8F355}" name="William Buchanan" initials="WB" userId="S::wbuchanan@evolvecf.co.uk::20d0c17f-3482-4619-8d48-bd54524dd13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19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2E6D"/>
    <a:srgbClr val="CED3EE"/>
    <a:srgbClr val="F3F4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505E3EF-67EA-436B-97B2-0124C06EBD2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17" d="100"/>
          <a:sy n="117" d="100"/>
        </p:scale>
        <p:origin x="1648" y="168"/>
      </p:cViewPr>
      <p:guideLst>
        <p:guide orient="horz" pos="2183"/>
        <p:guide pos="25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DC9-4F49-AF16-5245D66B0D4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DC9-4F49-AF16-5245D66B0D44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73</c:v>
                </c:pt>
                <c:pt idx="1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BD-FE47-B936-BC813F3E99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147-9D4D-BF6A-D22A6A87667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147-9D4D-BF6A-D22A6A87667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147-9D4D-BF6A-D22A6A87667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147-9D4D-BF6A-D22A6A876678}"/>
              </c:ext>
            </c:extLst>
          </c:dPt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147-9D4D-BF6A-D22A6A8766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EC5-BC44-A0B9-4F28DCEDAFE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EC5-BC44-A0B9-4F28DCEDAFE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EC5-BC44-A0B9-4F28DCEDAFE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EC5-BC44-A0B9-4F28DCEDAFE8}"/>
              </c:ext>
            </c:extLst>
          </c:dPt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EC5-BC44-A0B9-4F28DCEDAF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62CAB1C-0AA1-4053-A726-215D175850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9F6F74-5F3D-4C2B-8AC5-73761B2FB2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306CAD-01BF-4A36-89A1-76183660094C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3774BE-A649-46E3-849C-B7115F8772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E0E8BA-5F10-4BE9-B74D-7AA6E4180C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BFECE9-3899-402D-9557-B34889DA2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5944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B3ADA9-1F11-4760-8ADD-071EFA0A529A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3784F3-2271-4F8D-A0BC-8F40E6849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245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3784F3-2271-4F8D-A0BC-8F40E6849FE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022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pening (16-02-24)-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50695817-FF6C-74C6-A2C5-8193FB1EB8E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auto">
          <a:xfrm flipH="1">
            <a:off x="4622768" y="0"/>
            <a:ext cx="4894857" cy="6858000"/>
          </a:xfrm>
          <a:custGeom>
            <a:avLst/>
            <a:gdLst>
              <a:gd name="connsiteX0" fmla="*/ 2976181 w 9036658"/>
              <a:gd name="connsiteY0" fmla="*/ 8296878 h 10288588"/>
              <a:gd name="connsiteX1" fmla="*/ 4973579 w 9036658"/>
              <a:gd name="connsiteY1" fmla="*/ 10288588 h 10288588"/>
              <a:gd name="connsiteX2" fmla="*/ 978782 w 9036658"/>
              <a:gd name="connsiteY2" fmla="*/ 10288588 h 10288588"/>
              <a:gd name="connsiteX3" fmla="*/ 6057065 w 9036658"/>
              <a:gd name="connsiteY3" fmla="*/ 5235343 h 10288588"/>
              <a:gd name="connsiteX4" fmla="*/ 9036658 w 9036658"/>
              <a:gd name="connsiteY4" fmla="*/ 8205831 h 10288588"/>
              <a:gd name="connsiteX5" fmla="*/ 6947073 w 9036658"/>
              <a:gd name="connsiteY5" fmla="*/ 10288588 h 10288588"/>
              <a:gd name="connsiteX6" fmla="*/ 5164780 w 9036658"/>
              <a:gd name="connsiteY6" fmla="*/ 10288588 h 10288588"/>
              <a:gd name="connsiteX7" fmla="*/ 3072919 w 9036658"/>
              <a:gd name="connsiteY7" fmla="*/ 8205831 h 10288588"/>
              <a:gd name="connsiteX8" fmla="*/ 2980732 w 9036658"/>
              <a:gd name="connsiteY8" fmla="*/ 2173802 h 10288588"/>
              <a:gd name="connsiteX9" fmla="*/ 5963739 w 9036658"/>
              <a:gd name="connsiteY9" fmla="*/ 5143152 h 10288588"/>
              <a:gd name="connsiteX10" fmla="*/ 2980732 w 9036658"/>
              <a:gd name="connsiteY10" fmla="*/ 8114779 h 10288588"/>
              <a:gd name="connsiteX11" fmla="*/ 0 w 9036658"/>
              <a:gd name="connsiteY11" fmla="*/ 5143152 h 10288588"/>
              <a:gd name="connsiteX12" fmla="*/ 5164780 w 9036658"/>
              <a:gd name="connsiteY12" fmla="*/ 0 h 10288588"/>
              <a:gd name="connsiteX13" fmla="*/ 6944797 w 9036658"/>
              <a:gd name="connsiteY13" fmla="*/ 0 h 10288588"/>
              <a:gd name="connsiteX14" fmla="*/ 9036658 w 9036658"/>
              <a:gd name="connsiteY14" fmla="*/ 2083695 h 10288588"/>
              <a:gd name="connsiteX15" fmla="*/ 6057065 w 9036658"/>
              <a:gd name="connsiteY15" fmla="*/ 5053245 h 10288588"/>
              <a:gd name="connsiteX16" fmla="*/ 3072919 w 9036658"/>
              <a:gd name="connsiteY16" fmla="*/ 2083695 h 10288588"/>
              <a:gd name="connsiteX17" fmla="*/ 978781 w 9036658"/>
              <a:gd name="connsiteY17" fmla="*/ 0 h 10288588"/>
              <a:gd name="connsiteX18" fmla="*/ 4973579 w 9036658"/>
              <a:gd name="connsiteY18" fmla="*/ 0 h 10288588"/>
              <a:gd name="connsiteX19" fmla="*/ 2976180 w 9036658"/>
              <a:gd name="connsiteY19" fmla="*/ 1991710 h 10288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036658" h="10288588">
                <a:moveTo>
                  <a:pt x="2976181" y="8296878"/>
                </a:moveTo>
                <a:lnTo>
                  <a:pt x="4973579" y="10288588"/>
                </a:lnTo>
                <a:lnTo>
                  <a:pt x="978782" y="10288588"/>
                </a:lnTo>
                <a:close/>
                <a:moveTo>
                  <a:pt x="6057065" y="5235343"/>
                </a:moveTo>
                <a:lnTo>
                  <a:pt x="9036658" y="8205831"/>
                </a:lnTo>
                <a:lnTo>
                  <a:pt x="6947073" y="10288588"/>
                </a:lnTo>
                <a:lnTo>
                  <a:pt x="5164780" y="10288588"/>
                </a:lnTo>
                <a:lnTo>
                  <a:pt x="3072919" y="8205831"/>
                </a:lnTo>
                <a:close/>
                <a:moveTo>
                  <a:pt x="2980732" y="2173802"/>
                </a:moveTo>
                <a:lnTo>
                  <a:pt x="5963739" y="5143152"/>
                </a:lnTo>
                <a:lnTo>
                  <a:pt x="2980732" y="8114779"/>
                </a:lnTo>
                <a:lnTo>
                  <a:pt x="0" y="5143152"/>
                </a:lnTo>
                <a:close/>
                <a:moveTo>
                  <a:pt x="5164780" y="0"/>
                </a:moveTo>
                <a:lnTo>
                  <a:pt x="6944797" y="0"/>
                </a:lnTo>
                <a:lnTo>
                  <a:pt x="9036658" y="2083695"/>
                </a:lnTo>
                <a:lnTo>
                  <a:pt x="6057065" y="5053245"/>
                </a:lnTo>
                <a:lnTo>
                  <a:pt x="3072919" y="2083695"/>
                </a:lnTo>
                <a:close/>
                <a:moveTo>
                  <a:pt x="978781" y="0"/>
                </a:moveTo>
                <a:lnTo>
                  <a:pt x="4973579" y="0"/>
                </a:lnTo>
                <a:lnTo>
                  <a:pt x="2976180" y="1991710"/>
                </a:ln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8"/>
            </a:lvl1pPr>
          </a:lstStyle>
          <a:p>
            <a:pPr lvl="0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297CA2C-F468-FEAE-1FDB-68ABE2E93E38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5" y="897298"/>
            <a:ext cx="7062236" cy="275534"/>
            <a:chOff x="4" y="897298"/>
            <a:chExt cx="8691981" cy="27553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157D1BC-9CB1-DBC8-5F7F-45EE7616DF1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" y="1035064"/>
              <a:ext cx="8554217" cy="0"/>
            </a:xfrm>
            <a:prstGeom prst="line">
              <a:avLst/>
            </a:prstGeom>
            <a:solidFill>
              <a:schemeClr val="accent1"/>
            </a:solidFill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Diamond 8">
              <a:extLst>
                <a:ext uri="{FF2B5EF4-FFF2-40B4-BE49-F238E27FC236}">
                  <a16:creationId xmlns:a16="http://schemas.microsoft.com/office/drawing/2014/main" id="{38438399-CB2E-924A-D62C-CB459174AEA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416450" y="897298"/>
              <a:ext cx="275535" cy="275534"/>
            </a:xfrm>
            <a:prstGeom prst="diamond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63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1579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53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50057-F9C0-ACF1-AFD4-5C120C02E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3B4992-73D3-03CE-80FB-ADA073D135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A44B0-E518-8634-85C9-DCEC7F732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8AB6FE1B-917C-CF47-B036-2F119C21A1CA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7E4BD-0546-379D-8383-229FD3074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50C08-4A2D-F607-4E67-D4C59BFB0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DBCC-E357-D246-A37F-8939FD0147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9315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9BBD-9A3A-759B-DC10-5A4190DC2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A676C-E004-CDBA-72BB-4C117C538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817FB-DA2D-9BBA-90AC-99E7BA68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8AB6FE1B-917C-CF47-B036-2F119C21A1CA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BE208-2D5C-064F-A700-1FC02B609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21CD-44FB-85DB-FDDD-8B2710DE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DBCC-E357-D246-A37F-8939FD0147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67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59365-F2EE-DB99-EDFE-366E3433A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A53209-15F2-7F66-C6CD-93031BF30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6275" y="4589463"/>
            <a:ext cx="854392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6AAD0-248C-81A7-3547-2D849A8542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8AB6FE1B-917C-CF47-B036-2F119C21A1CA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81E78-316C-3791-1CC3-0131AE39E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E200B-3B6E-FAB8-D15D-E4D51AF2D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DBCC-E357-D246-A37F-8939FD0147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9676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12CEC-8898-A1F9-24EE-52A9A6858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47096-733C-54F0-0392-F9D9EDF647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19576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B595B6-AE9B-8886-45CA-EEF3790351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29200" y="1825625"/>
            <a:ext cx="4195763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E7970A-AD64-AD4A-2A85-2A23EF1177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8AB6FE1B-917C-CF47-B036-2F119C21A1CA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13562-8BF3-E6C9-2852-2741D59B4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A1C542-729A-1B54-D04F-A8EC0FEC9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DBCC-E357-D246-A37F-8939FD0147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5977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FD202-E79F-2636-A737-6663628A5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5" y="365125"/>
            <a:ext cx="8543925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DCCA7-7B0D-F148-5375-951BDFFD8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625" y="1681163"/>
            <a:ext cx="419100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D6078C-9A9D-68D8-8B90-5654C9DF3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625" y="2505075"/>
            <a:ext cx="419100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2F6471-F0EB-A3FF-81F3-AFA346337C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6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6D956A-F87D-4D5F-D6E9-E7582AB6A5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6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5A07B7-3EE5-93E3-6D4C-D89D7B92BF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8AB6FE1B-917C-CF47-B036-2F119C21A1CA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77EF1B-82D6-926E-7A9F-C4F2B037F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FCD38C-2350-237F-F8F8-2C037D97A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DBCC-E357-D246-A37F-8939FD0147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714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D39CE-5343-8E08-6D61-37703C46D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27F688-C175-9D3D-8DA7-8DC7F5436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DBCC-E357-D246-A37F-8939FD0147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650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742C3A-8244-FF41-9A4B-D7EA47DD57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8AB6FE1B-917C-CF47-B036-2F119C21A1CA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3D09DF-C3AD-D0F9-9A45-DF43D5340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F9E29-FC7E-0EC0-E44A-5703EAD92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DBCC-E357-D246-A37F-8939FD0147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0653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64701-A8CA-1F02-4228-E681CFE54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3D03C-B117-7DF1-C48D-5B635FDD1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638" y="987425"/>
            <a:ext cx="5014912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52A666-D664-38C2-2B95-48D2B50586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1EAB5-4FF7-F738-8624-0918B197AA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8AB6FE1B-917C-CF47-B036-2F119C21A1CA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F0844-512D-34D8-2E68-F9159AB77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72AEBC-E0EE-F626-6918-A3F06AE8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DBCC-E357-D246-A37F-8939FD0147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0073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91F61-9F9C-9E36-D797-CCF0AF5B4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3768AA-524E-AC4C-231C-37166E8EF0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638" y="987425"/>
            <a:ext cx="5014912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49E2F-D478-2BBB-A3E5-0D916799C8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1C44FB-F830-FB58-F48E-440F540E34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8AB6FE1B-917C-CF47-B036-2F119C21A1CA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503E0-BD2B-B654-3CE1-E3D50924A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61A08D-5BC2-DF8A-7513-D76381779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DBCC-E357-D246-A37F-8939FD0147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183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24E7D-A2D4-DC90-A0CE-CC847AAEA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315B5-CF00-8560-B663-F5CDBC12BE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A72F3-15C6-8E4E-44CE-59D497F63D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8AB6FE1B-917C-CF47-B036-2F119C21A1CA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95C32-45D8-3824-ACDA-D354B770B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E951F-5C50-FA9E-F824-36F51913B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DBCC-E357-D246-A37F-8939FD0147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19364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E65EE9-A6A1-9801-6C1B-D769B39369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9775" y="365125"/>
            <a:ext cx="2135188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AB2997-0B82-AAE9-7EF0-7AE6838356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56337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5B40E-1BBF-2406-1D79-6D1BF7F22E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8AB6FE1B-917C-CF47-B036-2F119C21A1CA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83FAC-51AA-B8E1-3236-01A650D6F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EF96E-BB19-AD14-6E6F-3938CA94C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DBCC-E357-D246-A37F-8939FD0147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2665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pening (16-02-24)-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50695817-FF6C-74C6-A2C5-8193FB1EB8E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auto">
          <a:xfrm flipH="1">
            <a:off x="4622768" y="0"/>
            <a:ext cx="4894857" cy="6858000"/>
          </a:xfrm>
          <a:custGeom>
            <a:avLst/>
            <a:gdLst>
              <a:gd name="connsiteX0" fmla="*/ 2976181 w 9036658"/>
              <a:gd name="connsiteY0" fmla="*/ 8296878 h 10288588"/>
              <a:gd name="connsiteX1" fmla="*/ 4973579 w 9036658"/>
              <a:gd name="connsiteY1" fmla="*/ 10288588 h 10288588"/>
              <a:gd name="connsiteX2" fmla="*/ 978782 w 9036658"/>
              <a:gd name="connsiteY2" fmla="*/ 10288588 h 10288588"/>
              <a:gd name="connsiteX3" fmla="*/ 6057065 w 9036658"/>
              <a:gd name="connsiteY3" fmla="*/ 5235343 h 10288588"/>
              <a:gd name="connsiteX4" fmla="*/ 9036658 w 9036658"/>
              <a:gd name="connsiteY4" fmla="*/ 8205831 h 10288588"/>
              <a:gd name="connsiteX5" fmla="*/ 6947073 w 9036658"/>
              <a:gd name="connsiteY5" fmla="*/ 10288588 h 10288588"/>
              <a:gd name="connsiteX6" fmla="*/ 5164780 w 9036658"/>
              <a:gd name="connsiteY6" fmla="*/ 10288588 h 10288588"/>
              <a:gd name="connsiteX7" fmla="*/ 3072919 w 9036658"/>
              <a:gd name="connsiteY7" fmla="*/ 8205831 h 10288588"/>
              <a:gd name="connsiteX8" fmla="*/ 2980732 w 9036658"/>
              <a:gd name="connsiteY8" fmla="*/ 2173802 h 10288588"/>
              <a:gd name="connsiteX9" fmla="*/ 5963739 w 9036658"/>
              <a:gd name="connsiteY9" fmla="*/ 5143152 h 10288588"/>
              <a:gd name="connsiteX10" fmla="*/ 2980732 w 9036658"/>
              <a:gd name="connsiteY10" fmla="*/ 8114779 h 10288588"/>
              <a:gd name="connsiteX11" fmla="*/ 0 w 9036658"/>
              <a:gd name="connsiteY11" fmla="*/ 5143152 h 10288588"/>
              <a:gd name="connsiteX12" fmla="*/ 5164780 w 9036658"/>
              <a:gd name="connsiteY12" fmla="*/ 0 h 10288588"/>
              <a:gd name="connsiteX13" fmla="*/ 6944797 w 9036658"/>
              <a:gd name="connsiteY13" fmla="*/ 0 h 10288588"/>
              <a:gd name="connsiteX14" fmla="*/ 9036658 w 9036658"/>
              <a:gd name="connsiteY14" fmla="*/ 2083695 h 10288588"/>
              <a:gd name="connsiteX15" fmla="*/ 6057065 w 9036658"/>
              <a:gd name="connsiteY15" fmla="*/ 5053245 h 10288588"/>
              <a:gd name="connsiteX16" fmla="*/ 3072919 w 9036658"/>
              <a:gd name="connsiteY16" fmla="*/ 2083695 h 10288588"/>
              <a:gd name="connsiteX17" fmla="*/ 978781 w 9036658"/>
              <a:gd name="connsiteY17" fmla="*/ 0 h 10288588"/>
              <a:gd name="connsiteX18" fmla="*/ 4973579 w 9036658"/>
              <a:gd name="connsiteY18" fmla="*/ 0 h 10288588"/>
              <a:gd name="connsiteX19" fmla="*/ 2976180 w 9036658"/>
              <a:gd name="connsiteY19" fmla="*/ 1991710 h 10288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036658" h="10288588">
                <a:moveTo>
                  <a:pt x="2976181" y="8296878"/>
                </a:moveTo>
                <a:lnTo>
                  <a:pt x="4973579" y="10288588"/>
                </a:lnTo>
                <a:lnTo>
                  <a:pt x="978782" y="10288588"/>
                </a:lnTo>
                <a:close/>
                <a:moveTo>
                  <a:pt x="6057065" y="5235343"/>
                </a:moveTo>
                <a:lnTo>
                  <a:pt x="9036658" y="8205831"/>
                </a:lnTo>
                <a:lnTo>
                  <a:pt x="6947073" y="10288588"/>
                </a:lnTo>
                <a:lnTo>
                  <a:pt x="5164780" y="10288588"/>
                </a:lnTo>
                <a:lnTo>
                  <a:pt x="3072919" y="8205831"/>
                </a:lnTo>
                <a:close/>
                <a:moveTo>
                  <a:pt x="2980732" y="2173802"/>
                </a:moveTo>
                <a:lnTo>
                  <a:pt x="5963739" y="5143152"/>
                </a:lnTo>
                <a:lnTo>
                  <a:pt x="2980732" y="8114779"/>
                </a:lnTo>
                <a:lnTo>
                  <a:pt x="0" y="5143152"/>
                </a:lnTo>
                <a:close/>
                <a:moveTo>
                  <a:pt x="5164780" y="0"/>
                </a:moveTo>
                <a:lnTo>
                  <a:pt x="6944797" y="0"/>
                </a:lnTo>
                <a:lnTo>
                  <a:pt x="9036658" y="2083695"/>
                </a:lnTo>
                <a:lnTo>
                  <a:pt x="6057065" y="5053245"/>
                </a:lnTo>
                <a:lnTo>
                  <a:pt x="3072919" y="2083695"/>
                </a:lnTo>
                <a:close/>
                <a:moveTo>
                  <a:pt x="978781" y="0"/>
                </a:moveTo>
                <a:lnTo>
                  <a:pt x="4973579" y="0"/>
                </a:lnTo>
                <a:lnTo>
                  <a:pt x="2976180" y="1991710"/>
                </a:ln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8"/>
            </a:lvl1pPr>
          </a:lstStyle>
          <a:p>
            <a:pPr lvl="0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297CA2C-F468-FEAE-1FDB-68ABE2E93E38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5" y="897298"/>
            <a:ext cx="7062236" cy="275534"/>
            <a:chOff x="4" y="897298"/>
            <a:chExt cx="8691981" cy="27553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157D1BC-9CB1-DBC8-5F7F-45EE7616DF1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" y="1035064"/>
              <a:ext cx="8554217" cy="0"/>
            </a:xfrm>
            <a:prstGeom prst="line">
              <a:avLst/>
            </a:prstGeom>
            <a:solidFill>
              <a:schemeClr val="accent1"/>
            </a:solidFill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Diamond 8">
              <a:extLst>
                <a:ext uri="{FF2B5EF4-FFF2-40B4-BE49-F238E27FC236}">
                  <a16:creationId xmlns:a16="http://schemas.microsoft.com/office/drawing/2014/main" id="{38438399-CB2E-924A-D62C-CB459174AEA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416450" y="897298"/>
              <a:ext cx="275535" cy="275534"/>
            </a:xfrm>
            <a:prstGeom prst="diamond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63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1579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535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FE1B-917C-CF47-B036-2F119C21A1CA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DBCC-E357-D246-A37F-8939FD0147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7284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5443"/>
            <a:ext cx="2228850" cy="365125"/>
          </a:xfrm>
        </p:spPr>
        <p:txBody>
          <a:bodyPr/>
          <a:lstStyle/>
          <a:p>
            <a:fld id="{8AB6FE1B-917C-CF47-B036-2F119C21A1CA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9B39BE7-E267-773F-E172-8C2C98F25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43" y="6356351"/>
            <a:ext cx="1359424" cy="36764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AD21CFE-D050-2B4A-9CFB-16FF7C36DB0D}"/>
              </a:ext>
            </a:extLst>
          </p:cNvPr>
          <p:cNvCxnSpPr/>
          <p:nvPr/>
        </p:nvCxnSpPr>
        <p:spPr>
          <a:xfrm>
            <a:off x="681042" y="690880"/>
            <a:ext cx="8543925" cy="0"/>
          </a:xfrm>
          <a:prstGeom prst="line">
            <a:avLst/>
          </a:prstGeom>
          <a:ln w="22225">
            <a:solidFill>
              <a:srgbClr val="E51F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2BA3614-07D8-804E-7522-A0AA055FBF5A}"/>
              </a:ext>
            </a:extLst>
          </p:cNvPr>
          <p:cNvCxnSpPr/>
          <p:nvPr/>
        </p:nvCxnSpPr>
        <p:spPr>
          <a:xfrm>
            <a:off x="681042" y="6248400"/>
            <a:ext cx="8543925" cy="0"/>
          </a:xfrm>
          <a:prstGeom prst="line">
            <a:avLst/>
          </a:prstGeom>
          <a:ln>
            <a:solidFill>
              <a:srgbClr val="E51F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CC50C1F-14D8-A405-81BE-83F339BA0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43" y="6356352"/>
            <a:ext cx="1391597" cy="376344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8FEBE8B-3D04-82A9-1ABC-784E12924CC0}"/>
              </a:ext>
            </a:extLst>
          </p:cNvPr>
          <p:cNvCxnSpPr/>
          <p:nvPr/>
        </p:nvCxnSpPr>
        <p:spPr>
          <a:xfrm>
            <a:off x="681042" y="6248400"/>
            <a:ext cx="8543925" cy="0"/>
          </a:xfrm>
          <a:prstGeom prst="line">
            <a:avLst/>
          </a:prstGeom>
          <a:ln>
            <a:solidFill>
              <a:srgbClr val="E51F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B4BDA0D9-7474-62BE-1C8D-BD20D3D54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3875" y="6326829"/>
            <a:ext cx="1155235" cy="40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909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FE1B-917C-CF47-B036-2F119C21A1CA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DBCC-E357-D246-A37F-8939FD0147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6951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5">
            <a:extLst>
              <a:ext uri="{FF2B5EF4-FFF2-40B4-BE49-F238E27FC236}">
                <a16:creationId xmlns:a16="http://schemas.microsoft.com/office/drawing/2014/main" id="{ABAD1C27-724B-48AF-273D-125E857FA9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796" y="280630"/>
            <a:ext cx="8543925" cy="374418"/>
          </a:xfrm>
        </p:spPr>
        <p:txBody>
          <a:bodyPr vert="horz" lIns="0" tIns="42203" rIns="84406" bIns="42203" rtlCol="0" anchor="ctr">
            <a:noAutofit/>
          </a:bodyPr>
          <a:lstStyle>
            <a:lvl1pPr>
              <a:defRPr lang="en-GB" sz="2800">
                <a:solidFill>
                  <a:srgbClr val="2A2C69"/>
                </a:solidFill>
                <a:latin typeface="Readex Pro Light" pitchFamily="2" charset="-78"/>
                <a:cs typeface="Readex Pro Light" pitchFamily="2" charset="-78"/>
              </a:defRPr>
            </a:lvl1pPr>
          </a:lstStyle>
          <a:p>
            <a:pPr marL="0" lvl="0"/>
            <a:r>
              <a:rPr lang="en-GB"/>
              <a:t>[XXX] case study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3BF8B5C0-B8EC-AB4A-06F9-B6BD57AF99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</p:spPr>
        <p:txBody>
          <a:bodyPr/>
          <a:lstStyle/>
          <a:p>
            <a:fld id="{8AB6FE1B-917C-CF47-B036-2F119C21A1CA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98793C70-F4C2-036F-A5DA-630DBE5B9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</p:spPr>
        <p:txBody>
          <a:bodyPr/>
          <a:lstStyle/>
          <a:p>
            <a:fld id="{78A6DBCC-E357-D246-A37F-8939FD0147CF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7DF0CF-6988-2037-3205-A0C5DF6F4906}"/>
              </a:ext>
            </a:extLst>
          </p:cNvPr>
          <p:cNvSpPr/>
          <p:nvPr/>
        </p:nvSpPr>
        <p:spPr>
          <a:xfrm>
            <a:off x="5822964" y="770680"/>
            <a:ext cx="3401999" cy="379008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95EC28-F63B-1720-51E6-7733CC6DA401}"/>
              </a:ext>
            </a:extLst>
          </p:cNvPr>
          <p:cNvPicPr/>
          <p:nvPr/>
        </p:nvPicPr>
        <p:blipFill rotWithShape="1">
          <a:blip r:embed="rId2">
            <a:alphaModFix amt="13000"/>
          </a:blip>
          <a:srcRect l="19459" t="39530" r="71226" b="39399"/>
          <a:stretch/>
        </p:blipFill>
        <p:spPr>
          <a:xfrm>
            <a:off x="5800109" y="708671"/>
            <a:ext cx="3424854" cy="5474716"/>
          </a:xfrm>
          <a:prstGeom prst="rect">
            <a:avLst/>
          </a:prstGeom>
          <a:noFill/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C9D13C4-59C2-35B2-37D1-775AAA9D951B}"/>
              </a:ext>
            </a:extLst>
          </p:cNvPr>
          <p:cNvSpPr txBox="1"/>
          <p:nvPr/>
        </p:nvSpPr>
        <p:spPr>
          <a:xfrm>
            <a:off x="672240" y="4161409"/>
            <a:ext cx="5126505" cy="189601"/>
          </a:xfrm>
          <a:prstGeom prst="rect">
            <a:avLst/>
          </a:prstGeom>
          <a:noFill/>
        </p:spPr>
        <p:txBody>
          <a:bodyPr wrap="square" lIns="36000" tIns="24484" rIns="180000" bIns="0" rtlCol="0" anchor="t" anchorCtr="0">
            <a:noAutofit/>
          </a:bodyPr>
          <a:lstStyle/>
          <a:p>
            <a:pPr marL="7938" algn="just" fontAlgn="base"/>
            <a:r>
              <a:rPr lang="en-GB" sz="850">
                <a:solidFill>
                  <a:schemeClr val="accent1"/>
                </a:solidFill>
                <a:latin typeface="Readex Pro Medium" pitchFamily="2" charset="-78"/>
                <a:cs typeface="Readex Pro Medium" pitchFamily="2" charset="-78"/>
              </a:rPr>
              <a:t>We added value on the transaction by: </a:t>
            </a:r>
          </a:p>
        </p:txBody>
      </p:sp>
      <p:pic>
        <p:nvPicPr>
          <p:cNvPr id="13" name="Picture 1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D0E0BED2-0E27-4F2C-E7A6-D1EE05830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43" y="6356352"/>
            <a:ext cx="1391597" cy="376344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4E30057-EFA3-5FBA-5A79-2BB80704BA1B}"/>
              </a:ext>
            </a:extLst>
          </p:cNvPr>
          <p:cNvCxnSpPr/>
          <p:nvPr/>
        </p:nvCxnSpPr>
        <p:spPr>
          <a:xfrm>
            <a:off x="681042" y="690880"/>
            <a:ext cx="8543925" cy="0"/>
          </a:xfrm>
          <a:prstGeom prst="line">
            <a:avLst/>
          </a:prstGeom>
          <a:ln w="38100">
            <a:solidFill>
              <a:srgbClr val="E51F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039EAB8-1D04-D7C5-C890-B4BD7CC28BB1}"/>
              </a:ext>
            </a:extLst>
          </p:cNvPr>
          <p:cNvCxnSpPr/>
          <p:nvPr/>
        </p:nvCxnSpPr>
        <p:spPr>
          <a:xfrm>
            <a:off x="681042" y="6248400"/>
            <a:ext cx="8543925" cy="0"/>
          </a:xfrm>
          <a:prstGeom prst="line">
            <a:avLst/>
          </a:prstGeom>
          <a:ln>
            <a:solidFill>
              <a:srgbClr val="E51F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51AF7F23-B370-4514-5FFA-3477EE6B9B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6947" y="776049"/>
            <a:ext cx="5111078" cy="1625839"/>
          </a:xfrm>
          <a:ln>
            <a:noFill/>
          </a:ln>
        </p:spPr>
        <p:txBody>
          <a:bodyPr/>
          <a:lstStyle/>
          <a:p>
            <a:r>
              <a:rPr lang="en-GB"/>
              <a:t>Paste picture for case study</a:t>
            </a:r>
          </a:p>
          <a:p>
            <a:r>
              <a:rPr lang="en-GB"/>
              <a:t>Colourise Blue </a:t>
            </a:r>
          </a:p>
        </p:txBody>
      </p:sp>
      <p:sp>
        <p:nvSpPr>
          <p:cNvPr id="17" name="Picture Placeholder 24">
            <a:extLst>
              <a:ext uri="{FF2B5EF4-FFF2-40B4-BE49-F238E27FC236}">
                <a16:creationId xmlns:a16="http://schemas.microsoft.com/office/drawing/2014/main" id="{DE8BE046-8729-3683-7B33-4F0FB19544C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8571" y="1952635"/>
            <a:ext cx="1396800" cy="586800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Logo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99F9F3CA-5EAA-4AC7-18DE-CDDDEBAD2EA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2240" y="2621488"/>
            <a:ext cx="5117708" cy="1497041"/>
          </a:xfrm>
        </p:spPr>
        <p:txBody>
          <a:bodyPr/>
          <a:lstStyle>
            <a:lvl1pPr marL="0" indent="0">
              <a:buNone/>
              <a:defRPr lang="en-GB" sz="850" kern="1200" dirty="0" smtClean="0">
                <a:solidFill>
                  <a:schemeClr val="accent1"/>
                </a:solidFill>
                <a:latin typeface="Readex Pro Medium" pitchFamily="2" charset="-78"/>
                <a:ea typeface="+mn-ea"/>
                <a:cs typeface="Readex Pro Medium" pitchFamily="2" charset="-78"/>
              </a:defRPr>
            </a:lvl1pPr>
            <a:lvl2pPr marL="0" indent="0">
              <a:buNone/>
              <a:defRPr lang="en-GB" sz="850" kern="1200" dirty="0" smtClean="0">
                <a:solidFill>
                  <a:schemeClr val="tx1"/>
                </a:solidFill>
                <a:latin typeface="Readex Pro ExtraLight" pitchFamily="2" charset="-78"/>
                <a:ea typeface="+mn-ea"/>
                <a:cs typeface="Readex Pro ExtraLight" pitchFamily="2" charset="-78"/>
              </a:defRPr>
            </a:lvl2pPr>
            <a:lvl3pPr marL="171450" indent="-171450" algn="l" defTabSz="457200" rtl="0" eaLnBrk="1" latinLnBrk="0" hangingPunct="1">
              <a:spcAft>
                <a:spcPts val="600"/>
              </a:spcAft>
              <a:buClr>
                <a:srgbClr val="CD0028"/>
              </a:buClr>
              <a:buFont typeface="Wingdings" pitchFamily="2" charset="2"/>
              <a:buChar char="§"/>
              <a:defRPr lang="en-GB" sz="850" kern="1200" dirty="0" smtClean="0">
                <a:solidFill>
                  <a:schemeClr val="tx1"/>
                </a:solidFill>
                <a:latin typeface="Readex Pro ExtraLight" pitchFamily="2" charset="-78"/>
                <a:ea typeface="+mn-ea"/>
                <a:cs typeface="Readex Pro ExtraLight"/>
              </a:defRPr>
            </a:lvl3pPr>
            <a:lvl4pPr marL="171450" indent="-171450" algn="l" defTabSz="457200" rtl="0" eaLnBrk="1" latinLnBrk="0" hangingPunct="1">
              <a:spcAft>
                <a:spcPts val="600"/>
              </a:spcAft>
              <a:buClr>
                <a:srgbClr val="CD0028"/>
              </a:buClr>
              <a:buFont typeface="Wingdings" pitchFamily="2" charset="2"/>
              <a:buChar char="§"/>
              <a:defRPr lang="en-GB" sz="850" kern="1200" dirty="0" smtClean="0">
                <a:solidFill>
                  <a:schemeClr val="tx1"/>
                </a:solidFill>
                <a:latin typeface="Readex Pro ExtraLight" pitchFamily="2" charset="-78"/>
                <a:ea typeface="+mn-ea"/>
                <a:cs typeface="Readex Pro ExtraLight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9" name="Picture Placeholder 13">
            <a:extLst>
              <a:ext uri="{FF2B5EF4-FFF2-40B4-BE49-F238E27FC236}">
                <a16:creationId xmlns:a16="http://schemas.microsoft.com/office/drawing/2014/main" id="{DB473246-9A72-F226-CB01-39714C469A2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162050" y="4384557"/>
            <a:ext cx="647700" cy="64928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GB"/>
              <a:t>Icon</a:t>
            </a:r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6E538C1B-8646-754A-A69A-87392584EB1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907244" y="4384557"/>
            <a:ext cx="647700" cy="64928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GB"/>
              <a:t>Icon</a:t>
            </a:r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20CC8DC7-A818-0ABB-0869-AAB34B42588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650837" y="4384557"/>
            <a:ext cx="647700" cy="64928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GB"/>
              <a:t>Icon</a:t>
            </a:r>
          </a:p>
        </p:txBody>
      </p:sp>
      <p:sp>
        <p:nvSpPr>
          <p:cNvPr id="22" name="Text Placeholder 29">
            <a:extLst>
              <a:ext uri="{FF2B5EF4-FFF2-40B4-BE49-F238E27FC236}">
                <a16:creationId xmlns:a16="http://schemas.microsoft.com/office/drawing/2014/main" id="{09E61176-59FA-4E5B-E037-53391D62284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5358" y="5068389"/>
            <a:ext cx="1524286" cy="845214"/>
          </a:xfrm>
        </p:spPr>
        <p:txBody>
          <a:bodyPr lIns="0" tIns="36000" rIns="0" bIns="36000">
            <a:normAutofit/>
          </a:bodyPr>
          <a:lstStyle>
            <a:lvl1pPr marL="171450" indent="-171450" algn="l" defTabSz="457200" rtl="0" eaLnBrk="1" latinLnBrk="0" hangingPunct="1">
              <a:spcAft>
                <a:spcPts val="600"/>
              </a:spcAft>
              <a:buClr>
                <a:srgbClr val="CD0028"/>
              </a:buClr>
              <a:buFont typeface="Wingdings" pitchFamily="2" charset="2"/>
              <a:buChar char="§"/>
              <a:defRPr lang="en-GB" sz="850" kern="1200" dirty="0" smtClean="0">
                <a:solidFill>
                  <a:schemeClr val="tx1"/>
                </a:solidFill>
                <a:latin typeface="Readex Pro ExtraLight" pitchFamily="2" charset="-78"/>
                <a:ea typeface="+mn-ea"/>
                <a:cs typeface="Readex Pro ExtraLigh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7446858E-CEF4-FFCD-F36E-6C791553C72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468951" y="5068389"/>
            <a:ext cx="1524286" cy="845214"/>
          </a:xfrm>
        </p:spPr>
        <p:txBody>
          <a:bodyPr lIns="0" tIns="36000" rIns="0" bIns="36000">
            <a:normAutofit/>
          </a:bodyPr>
          <a:lstStyle>
            <a:lvl1pPr marL="171450" indent="-171450" algn="l" defTabSz="457200" rtl="0" eaLnBrk="1" latinLnBrk="0" hangingPunct="1">
              <a:spcAft>
                <a:spcPts val="600"/>
              </a:spcAft>
              <a:buClr>
                <a:srgbClr val="CD0028"/>
              </a:buClr>
              <a:buFont typeface="Wingdings" pitchFamily="2" charset="2"/>
              <a:buChar char="§"/>
              <a:defRPr lang="en-GB" sz="850" kern="1200" dirty="0" smtClean="0">
                <a:solidFill>
                  <a:schemeClr val="tx1"/>
                </a:solidFill>
                <a:latin typeface="Readex Pro ExtraLight" pitchFamily="2" charset="-78"/>
                <a:ea typeface="+mn-ea"/>
                <a:cs typeface="Readex Pro ExtraLigh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 Placeholder 29">
            <a:extLst>
              <a:ext uri="{FF2B5EF4-FFF2-40B4-BE49-F238E27FC236}">
                <a16:creationId xmlns:a16="http://schemas.microsoft.com/office/drawing/2014/main" id="{B6F260F8-D5FB-9E55-8562-E6E81D858DB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12544" y="5068389"/>
            <a:ext cx="1524286" cy="845214"/>
          </a:xfrm>
        </p:spPr>
        <p:txBody>
          <a:bodyPr lIns="0" tIns="36000" rIns="0" bIns="36000">
            <a:normAutofit/>
          </a:bodyPr>
          <a:lstStyle>
            <a:lvl1pPr marL="171450" indent="-171450" algn="l" defTabSz="457200" rtl="0" eaLnBrk="1" latinLnBrk="0" hangingPunct="1">
              <a:spcAft>
                <a:spcPts val="600"/>
              </a:spcAft>
              <a:buClr>
                <a:srgbClr val="CD0028"/>
              </a:buClr>
              <a:buFont typeface="Wingdings" pitchFamily="2" charset="2"/>
              <a:buChar char="§"/>
              <a:defRPr lang="en-GB" sz="850" kern="1200" dirty="0" smtClean="0">
                <a:solidFill>
                  <a:schemeClr val="tx1"/>
                </a:solidFill>
                <a:latin typeface="Readex Pro ExtraLight" pitchFamily="2" charset="-78"/>
                <a:ea typeface="+mn-ea"/>
                <a:cs typeface="Readex Pro ExtraLigh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29">
            <a:extLst>
              <a:ext uri="{FF2B5EF4-FFF2-40B4-BE49-F238E27FC236}">
                <a16:creationId xmlns:a16="http://schemas.microsoft.com/office/drawing/2014/main" id="{BF0FFB0F-31DE-89AC-EEDE-AE5B0F9AB04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20709" y="831724"/>
            <a:ext cx="3402012" cy="3670999"/>
          </a:xfrm>
        </p:spPr>
        <p:txBody>
          <a:bodyPr lIns="144000" tIns="36000" rIns="144000" bIns="36000" anchor="ctr">
            <a:normAutofit/>
          </a:bodyPr>
          <a:lstStyle>
            <a:lvl1pPr marL="0" indent="0" algn="l" defTabSz="457200" rtl="0" eaLnBrk="1" latinLnBrk="0" hangingPunct="1">
              <a:spcAft>
                <a:spcPts val="600"/>
              </a:spcAft>
              <a:buClr>
                <a:srgbClr val="CD0028"/>
              </a:buClr>
              <a:buFont typeface="Wingdings" pitchFamily="2" charset="2"/>
              <a:buNone/>
              <a:defRPr lang="en-GB" sz="1000" kern="1200" dirty="0" smtClean="0">
                <a:solidFill>
                  <a:schemeClr val="bg1"/>
                </a:solidFill>
                <a:latin typeface="Readex Pro Light" pitchFamily="2" charset="-78"/>
                <a:ea typeface="+mn-ea"/>
                <a:cs typeface="Readex Pro Light" pitchFamily="2" charset="-78"/>
              </a:defRPr>
            </a:lvl1pPr>
            <a:lvl2pPr marL="0" indent="0">
              <a:buNone/>
              <a:defRPr lang="en-GB" sz="1000" b="1" i="1" kern="1200" dirty="0" smtClean="0">
                <a:solidFill>
                  <a:schemeClr val="bg1"/>
                </a:solidFill>
                <a:latin typeface="Readex Pro Light" pitchFamily="2" charset="-78"/>
                <a:ea typeface="+mn-ea"/>
                <a:cs typeface="Readex Pro Light" pitchFamily="2" charset="-78"/>
              </a:defRPr>
            </a:lvl2pPr>
            <a:lvl3pPr marL="0" indent="0">
              <a:spcBef>
                <a:spcPts val="0"/>
              </a:spcBef>
              <a:buNone/>
              <a:defRPr lang="en-GB" sz="1000" i="1" kern="1200" dirty="0" smtClean="0">
                <a:solidFill>
                  <a:schemeClr val="bg1"/>
                </a:solidFill>
                <a:latin typeface="Readex Pro Light" pitchFamily="2" charset="-78"/>
                <a:ea typeface="+mn-ea"/>
                <a:cs typeface="Readex Pro Light" pitchFamily="2" charset="-78"/>
              </a:defRPr>
            </a:lvl3pPr>
          </a:lstStyle>
          <a:p>
            <a:pPr lvl="0"/>
            <a:r>
              <a:rPr lang="en-GB"/>
              <a:t>Quote</a:t>
            </a:r>
          </a:p>
          <a:p>
            <a:pPr lvl="1"/>
            <a:r>
              <a:rPr lang="en-GB"/>
              <a:t>Person Name</a:t>
            </a:r>
          </a:p>
          <a:p>
            <a:pPr lvl="2"/>
            <a:r>
              <a:rPr lang="en-GB"/>
              <a:t>Position</a:t>
            </a:r>
          </a:p>
          <a:p>
            <a:pPr lvl="2"/>
            <a:r>
              <a:rPr lang="en-GB"/>
              <a:t>Company</a:t>
            </a:r>
          </a:p>
        </p:txBody>
      </p:sp>
      <p:sp>
        <p:nvSpPr>
          <p:cNvPr id="26" name="Table Placeholder 38">
            <a:extLst>
              <a:ext uri="{FF2B5EF4-FFF2-40B4-BE49-F238E27FC236}">
                <a16:creationId xmlns:a16="http://schemas.microsoft.com/office/drawing/2014/main" id="{C412DAB7-9980-D9EA-CB9E-A5C83384797A}"/>
              </a:ext>
            </a:extLst>
          </p:cNvPr>
          <p:cNvSpPr>
            <a:spLocks noGrp="1"/>
          </p:cNvSpPr>
          <p:nvPr>
            <p:ph type="tbl" sz="quarter" idx="23" hasCustomPrompt="1"/>
          </p:nvPr>
        </p:nvSpPr>
        <p:spPr>
          <a:xfrm>
            <a:off x="5820708" y="4610675"/>
            <a:ext cx="3401999" cy="1572712"/>
          </a:xfrm>
        </p:spPr>
        <p:txBody>
          <a:bodyPr>
            <a:noAutofit/>
          </a:bodyPr>
          <a:lstStyle/>
          <a:p>
            <a:r>
              <a:rPr lang="en-GB"/>
              <a:t>Paste deal stat table</a:t>
            </a:r>
          </a:p>
        </p:txBody>
      </p:sp>
    </p:spTree>
    <p:extLst>
      <p:ext uri="{BB962C8B-B14F-4D97-AF65-F5344CB8AC3E}">
        <p14:creationId xmlns:p14="http://schemas.microsoft.com/office/powerpoint/2010/main" val="31854986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FE1B-917C-CF47-B036-2F119C21A1CA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DBCC-E357-D246-A37F-8939FD0147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52624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FE1B-917C-CF47-B036-2F119C21A1CA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DBCC-E357-D246-A37F-8939FD0147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5340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FE1B-917C-CF47-B036-2F119C21A1CA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2" descr="Lifeline Fire Co UK | Safety Equipment ...">
            <a:extLst>
              <a:ext uri="{FF2B5EF4-FFF2-40B4-BE49-F238E27FC236}">
                <a16:creationId xmlns:a16="http://schemas.microsoft.com/office/drawing/2014/main" id="{A04BD74A-76B5-DBAD-E777-E13334E81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35278" y="6396888"/>
            <a:ext cx="796720" cy="324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14896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FE1B-917C-CF47-B036-2F119C21A1CA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7682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FE1B-917C-CF47-B036-2F119C21A1CA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DBCC-E357-D246-A37F-8939FD0147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71639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FE1B-917C-CF47-B036-2F119C21A1CA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DBCC-E357-D246-A37F-8939FD0147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4557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FE1B-917C-CF47-B036-2F119C21A1CA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DBCC-E357-D246-A37F-8939FD0147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612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FE1B-917C-CF47-B036-2F119C21A1CA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DBCC-E357-D246-A37F-8939FD0147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347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diagram&#10;&#10;Description automatically generated">
            <a:extLst>
              <a:ext uri="{FF2B5EF4-FFF2-40B4-BE49-F238E27FC236}">
                <a16:creationId xmlns:a16="http://schemas.microsoft.com/office/drawing/2014/main" id="{ADEF2460-73BB-5FE2-5D19-6700F3372C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40" t="262" r="20959" b="-262"/>
          <a:stretch/>
        </p:blipFill>
        <p:spPr>
          <a:xfrm>
            <a:off x="0" y="0"/>
            <a:ext cx="9906000" cy="6876000"/>
          </a:xfrm>
          <a:prstGeom prst="rect">
            <a:avLst/>
          </a:prstGeom>
        </p:spPr>
      </p:pic>
      <p:pic>
        <p:nvPicPr>
          <p:cNvPr id="2" name="Picture 1" descr="A picture containing diagram&#10;&#10;Description automatically generated">
            <a:extLst>
              <a:ext uri="{FF2B5EF4-FFF2-40B4-BE49-F238E27FC236}">
                <a16:creationId xmlns:a16="http://schemas.microsoft.com/office/drawing/2014/main" id="{F03E5E39-8BB4-477B-674B-BBFA6257BA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40" t="262" r="14510" b="1"/>
          <a:stretch/>
        </p:blipFill>
        <p:spPr>
          <a:xfrm>
            <a:off x="1" y="0"/>
            <a:ext cx="9906000" cy="684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5542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FE1B-917C-CF47-B036-2F119C21A1CA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DBCC-E357-D246-A37F-8939FD0147CF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8811A6B5-5291-8E4A-3476-46F50CBBE9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5197"/>
          <a:stretch/>
        </p:blipFill>
        <p:spPr>
          <a:xfrm>
            <a:off x="0" y="0"/>
            <a:ext cx="9906000" cy="6876000"/>
          </a:xfrm>
          <a:prstGeom prst="rect">
            <a:avLst/>
          </a:prstGeom>
        </p:spPr>
      </p:pic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3D9B6FB9-6FF3-D9E4-B1FF-3C137D1812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8750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826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A4658A7-74F0-171D-0C41-63A7634A1FFB}"/>
              </a:ext>
            </a:extLst>
          </p:cNvPr>
          <p:cNvGrpSpPr/>
          <p:nvPr userDrawn="1"/>
        </p:nvGrpSpPr>
        <p:grpSpPr>
          <a:xfrm>
            <a:off x="0" y="765388"/>
            <a:ext cx="7062235" cy="223871"/>
            <a:chOff x="4" y="897298"/>
            <a:chExt cx="8691981" cy="275534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1906510E-6A6C-CCAE-19AD-47B51C9EA9A5}"/>
                </a:ext>
              </a:extLst>
            </p:cNvPr>
            <p:cNvCxnSpPr>
              <a:cxnSpLocks/>
            </p:cNvCxnSpPr>
            <p:nvPr/>
          </p:nvCxnSpPr>
          <p:spPr>
            <a:xfrm>
              <a:off x="4" y="1035064"/>
              <a:ext cx="8554217" cy="0"/>
            </a:xfrm>
            <a:prstGeom prst="line">
              <a:avLst/>
            </a:prstGeom>
            <a:solidFill>
              <a:schemeClr val="accent1"/>
            </a:solidFill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Diamond 3">
              <a:extLst>
                <a:ext uri="{FF2B5EF4-FFF2-40B4-BE49-F238E27FC236}">
                  <a16:creationId xmlns:a16="http://schemas.microsoft.com/office/drawing/2014/main" id="{65545123-DB57-0966-724A-679E565AC473}"/>
                </a:ext>
              </a:extLst>
            </p:cNvPr>
            <p:cNvSpPr/>
            <p:nvPr/>
          </p:nvSpPr>
          <p:spPr>
            <a:xfrm>
              <a:off x="8416450" y="897298"/>
              <a:ext cx="275535" cy="275534"/>
            </a:xfrm>
            <a:prstGeom prst="diamond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63">
                <a:solidFill>
                  <a:schemeClr val="accent1"/>
                </a:solidFill>
              </a:endParaRPr>
            </a:p>
          </p:txBody>
        </p:sp>
      </p:grpSp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8F4AC5C4-3679-1863-11B7-604F0390D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241" y="365125"/>
            <a:ext cx="6521123" cy="45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defTabSz="914400"/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7396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txStyles>
    <p:titleStyle>
      <a:lvl1pPr algn="l" defTabSz="742969" rtl="0" eaLnBrk="1" latinLnBrk="0" hangingPunct="1">
        <a:lnSpc>
          <a:spcPct val="90000"/>
        </a:lnSpc>
        <a:spcBef>
          <a:spcPct val="0"/>
        </a:spcBef>
        <a:buNone/>
        <a:defRPr lang="en-GB" sz="2600" b="1" kern="1200" smtClean="0">
          <a:solidFill>
            <a:srgbClr val="2A2E6D"/>
          </a:solidFill>
          <a:latin typeface="Aptos" panose="020B0004020202020204" pitchFamily="34" charset="0"/>
          <a:ea typeface="+mn-ea"/>
          <a:cs typeface="+mn-cs"/>
        </a:defRPr>
      </a:lvl1pPr>
    </p:titleStyle>
    <p:bodyStyle>
      <a:lvl1pPr marL="185742" indent="-185742" algn="l" defTabSz="742969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28" indent="-185742" algn="l" defTabSz="742969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711" indent="-185742" algn="l" defTabSz="742969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96" indent="-185742" algn="l" defTabSz="742969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80" indent="-185742" algn="l" defTabSz="742969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64" indent="-185742" algn="l" defTabSz="742969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648" indent="-185742" algn="l" defTabSz="742969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132" indent="-185742" algn="l" defTabSz="742969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618" indent="-185742" algn="l" defTabSz="742969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69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83" algn="l" defTabSz="742969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69" algn="l" defTabSz="742969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53" algn="l" defTabSz="742969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38" algn="l" defTabSz="742969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421" algn="l" defTabSz="742969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907" algn="l" defTabSz="742969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90" algn="l" defTabSz="742969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73" algn="l" defTabSz="742969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D7A1D9-6323-A883-F33B-BC1172EBF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752" y="365125"/>
            <a:ext cx="6425612" cy="45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/>
            <a:r>
              <a:rPr lang="en-GB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BB757-94A5-8FF3-4D4D-0BD7C0BCE6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38575" y="635635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GB" sz="975" b="0" i="0" smtClean="0">
                <a:latin typeface="Aptos Light" panose="020B0004020202020204" pitchFamily="34" charset="0"/>
              </a:defRPr>
            </a:lvl1pPr>
          </a:lstStyle>
          <a:p>
            <a:fld id="{78A6DBCC-E357-D246-A37F-8939FD0147CF}" type="slidenum">
              <a:rPr lang="en-GB" smtClean="0"/>
              <a:pPr/>
              <a:t>‹#›</a:t>
            </a:fld>
            <a:endParaRPr lang="en-GB" sz="975" b="0" i="0">
              <a:latin typeface="Aptos Light" panose="020B00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0C2381C-2B10-E848-02F7-B766C5273657}"/>
              </a:ext>
            </a:extLst>
          </p:cNvPr>
          <p:cNvGrpSpPr/>
          <p:nvPr userDrawn="1"/>
        </p:nvGrpSpPr>
        <p:grpSpPr>
          <a:xfrm>
            <a:off x="0" y="765388"/>
            <a:ext cx="8223528" cy="223871"/>
            <a:chOff x="4" y="897298"/>
            <a:chExt cx="10121264" cy="27553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325C979-38AD-2F3F-E2E7-40DC5A9A88A0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>
              <a:off x="4" y="1035064"/>
              <a:ext cx="9845729" cy="1"/>
            </a:xfrm>
            <a:prstGeom prst="line">
              <a:avLst/>
            </a:prstGeom>
            <a:solidFill>
              <a:schemeClr val="accent1"/>
            </a:solidFill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Diamond 8">
              <a:extLst>
                <a:ext uri="{FF2B5EF4-FFF2-40B4-BE49-F238E27FC236}">
                  <a16:creationId xmlns:a16="http://schemas.microsoft.com/office/drawing/2014/main" id="{5DD26E69-7035-4E96-DEFC-D7E2F7141B83}"/>
                </a:ext>
              </a:extLst>
            </p:cNvPr>
            <p:cNvSpPr/>
            <p:nvPr/>
          </p:nvSpPr>
          <p:spPr>
            <a:xfrm>
              <a:off x="9845733" y="897298"/>
              <a:ext cx="275535" cy="275534"/>
            </a:xfrm>
            <a:prstGeom prst="diamond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63">
                <a:solidFill>
                  <a:schemeClr val="accent1"/>
                </a:solidFill>
              </a:endParaRPr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10DA8E-28DF-0AD6-771E-E631A9D1D4D2}"/>
              </a:ext>
            </a:extLst>
          </p:cNvPr>
          <p:cNvCxnSpPr>
            <a:cxnSpLocks/>
          </p:cNvCxnSpPr>
          <p:nvPr userDrawn="1"/>
        </p:nvCxnSpPr>
        <p:spPr>
          <a:xfrm>
            <a:off x="264448" y="6288289"/>
            <a:ext cx="9377105" cy="0"/>
          </a:xfrm>
          <a:prstGeom prst="line">
            <a:avLst/>
          </a:prstGeom>
          <a:ln w="63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Diamond 10">
            <a:extLst>
              <a:ext uri="{FF2B5EF4-FFF2-40B4-BE49-F238E27FC236}">
                <a16:creationId xmlns:a16="http://schemas.microsoft.com/office/drawing/2014/main" id="{4C623482-89F9-A7FA-5D44-3A1E39BD33E0}"/>
              </a:ext>
            </a:extLst>
          </p:cNvPr>
          <p:cNvSpPr/>
          <p:nvPr userDrawn="1"/>
        </p:nvSpPr>
        <p:spPr>
          <a:xfrm>
            <a:off x="9284543" y="6201085"/>
            <a:ext cx="174414" cy="174415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3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9AC89D5-7C8B-4452-6B56-7E28B1A877D2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l="20070" t="36317" r="20070" b="36317"/>
          <a:stretch>
            <a:fillRect/>
          </a:stretch>
        </p:blipFill>
        <p:spPr>
          <a:xfrm>
            <a:off x="292108" y="6359876"/>
            <a:ext cx="1171029" cy="378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801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2600" b="1" kern="1200" smtClean="0">
          <a:solidFill>
            <a:srgbClr val="2A2E6D"/>
          </a:solidFill>
          <a:latin typeface="Aptos" panose="020B0004020202020204" pitchFamily="34" charset="0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078291C-27E1-303C-B58F-6AAFAEEE9D6F}"/>
              </a:ext>
            </a:extLst>
          </p:cNvPr>
          <p:cNvGrpSpPr/>
          <p:nvPr userDrawn="1"/>
        </p:nvGrpSpPr>
        <p:grpSpPr>
          <a:xfrm>
            <a:off x="5" y="897298"/>
            <a:ext cx="7062236" cy="275534"/>
            <a:chOff x="4" y="897298"/>
            <a:chExt cx="8691981" cy="27553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80B7086-A515-1D13-61A2-44E74E1993EC}"/>
                </a:ext>
              </a:extLst>
            </p:cNvPr>
            <p:cNvCxnSpPr>
              <a:cxnSpLocks/>
            </p:cNvCxnSpPr>
            <p:nvPr/>
          </p:nvCxnSpPr>
          <p:spPr>
            <a:xfrm>
              <a:off x="4" y="1035064"/>
              <a:ext cx="8554217" cy="0"/>
            </a:xfrm>
            <a:prstGeom prst="line">
              <a:avLst/>
            </a:prstGeom>
            <a:solidFill>
              <a:schemeClr val="accent1"/>
            </a:solidFill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Diamond 8">
              <a:extLst>
                <a:ext uri="{FF2B5EF4-FFF2-40B4-BE49-F238E27FC236}">
                  <a16:creationId xmlns:a16="http://schemas.microsoft.com/office/drawing/2014/main" id="{0ACF2ADC-2269-EB5A-5E9F-3FAD73ABBDD3}"/>
                </a:ext>
              </a:extLst>
            </p:cNvPr>
            <p:cNvSpPr/>
            <p:nvPr/>
          </p:nvSpPr>
          <p:spPr>
            <a:xfrm>
              <a:off x="8416450" y="897298"/>
              <a:ext cx="275535" cy="275534"/>
            </a:xfrm>
            <a:prstGeom prst="diamond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63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396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742969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42" indent="-185742" algn="l" defTabSz="742969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28" indent="-185742" algn="l" defTabSz="742969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711" indent="-185742" algn="l" defTabSz="742969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96" indent="-185742" algn="l" defTabSz="742969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80" indent="-185742" algn="l" defTabSz="742969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64" indent="-185742" algn="l" defTabSz="742969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648" indent="-185742" algn="l" defTabSz="742969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132" indent="-185742" algn="l" defTabSz="742969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618" indent="-185742" algn="l" defTabSz="742969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69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83" algn="l" defTabSz="742969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69" algn="l" defTabSz="742969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53" algn="l" defTabSz="742969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38" algn="l" defTabSz="742969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421" algn="l" defTabSz="742969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907" algn="l" defTabSz="742969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90" algn="l" defTabSz="742969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73" algn="l" defTabSz="742969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97705A-CC3C-B647-A98C-F0D5126654A1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A92240F-CC0D-FA4E-D1CD-4508C738AB22}"/>
              </a:ext>
            </a:extLst>
          </p:cNvPr>
          <p:cNvGrpSpPr/>
          <p:nvPr userDrawn="1"/>
        </p:nvGrpSpPr>
        <p:grpSpPr>
          <a:xfrm>
            <a:off x="0" y="765388"/>
            <a:ext cx="7062235" cy="223871"/>
            <a:chOff x="4" y="897298"/>
            <a:chExt cx="8691981" cy="27553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A2CED8F-A579-23D3-4F7F-18B283655ADD}"/>
                </a:ext>
              </a:extLst>
            </p:cNvPr>
            <p:cNvCxnSpPr>
              <a:cxnSpLocks/>
            </p:cNvCxnSpPr>
            <p:nvPr/>
          </p:nvCxnSpPr>
          <p:spPr>
            <a:xfrm>
              <a:off x="4" y="1035064"/>
              <a:ext cx="8554217" cy="0"/>
            </a:xfrm>
            <a:prstGeom prst="line">
              <a:avLst/>
            </a:prstGeom>
            <a:solidFill>
              <a:schemeClr val="accent1"/>
            </a:solidFill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Diamond 8">
              <a:extLst>
                <a:ext uri="{FF2B5EF4-FFF2-40B4-BE49-F238E27FC236}">
                  <a16:creationId xmlns:a16="http://schemas.microsoft.com/office/drawing/2014/main" id="{F27F46CD-A819-3FE9-C273-35AF7A7CDFD3}"/>
                </a:ext>
              </a:extLst>
            </p:cNvPr>
            <p:cNvSpPr/>
            <p:nvPr/>
          </p:nvSpPr>
          <p:spPr>
            <a:xfrm>
              <a:off x="8416450" y="897298"/>
              <a:ext cx="275535" cy="275534"/>
            </a:xfrm>
            <a:prstGeom prst="diamond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63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2178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image" Target="../media/image8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8CAE3-A86C-F8C8-CFC1-E1920031C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C9B266B8-73C3-C3A6-3129-093B5F770DCE}"/>
              </a:ext>
            </a:extLst>
          </p:cNvPr>
          <p:cNvGrpSpPr/>
          <p:nvPr/>
        </p:nvGrpSpPr>
        <p:grpSpPr>
          <a:xfrm>
            <a:off x="5291316" y="3349956"/>
            <a:ext cx="1427882" cy="1152000"/>
            <a:chOff x="5291316" y="3428337"/>
            <a:chExt cx="1427882" cy="1152000"/>
          </a:xfrm>
        </p:grpSpPr>
        <p:sp>
          <p:nvSpPr>
            <p:cNvPr id="81" name="Rounded Rectangle 80">
              <a:extLst>
                <a:ext uri="{FF2B5EF4-FFF2-40B4-BE49-F238E27FC236}">
                  <a16:creationId xmlns:a16="http://schemas.microsoft.com/office/drawing/2014/main" id="{CEC2D39E-159E-1CBF-7B39-2573A534C1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72522" y="3428337"/>
              <a:ext cx="1250994" cy="1152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89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679B47C-9B4F-6819-1DF8-7A1256A61502}"/>
                </a:ext>
              </a:extLst>
            </p:cNvPr>
            <p:cNvSpPr txBox="1"/>
            <p:nvPr/>
          </p:nvSpPr>
          <p:spPr>
            <a:xfrm>
              <a:off x="5291316" y="4067424"/>
              <a:ext cx="1427882" cy="383119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>
              <a:defPPr>
                <a:defRPr lang="en-US"/>
              </a:defPPr>
              <a:lvl1pPr algn="ctr">
                <a:defRPr sz="1000" b="1">
                  <a:solidFill>
                    <a:schemeClr val="accent2"/>
                  </a:solidFill>
                  <a:latin typeface="Aptos SemiBold" panose="020B00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r>
                <a:rPr lang="en-GB"/>
                <a:t>Premium on sale mandates compared to base valuation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54F9AAF4-32A5-8707-94C8-9810091189C4}"/>
                </a:ext>
              </a:extLst>
            </p:cNvPr>
            <p:cNvSpPr txBox="1"/>
            <p:nvPr/>
          </p:nvSpPr>
          <p:spPr>
            <a:xfrm>
              <a:off x="5391751" y="3644735"/>
              <a:ext cx="1270540" cy="383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189"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GB" sz="2000" b="1">
                  <a:solidFill>
                    <a:schemeClr val="tx2"/>
                  </a:solidFill>
                </a:rPr>
                <a:t>Avg. 40% </a:t>
              </a:r>
            </a:p>
          </p:txBody>
        </p:sp>
      </p:grpSp>
      <p:sp>
        <p:nvSpPr>
          <p:cNvPr id="17" name="Title 16">
            <a:extLst>
              <a:ext uri="{FF2B5EF4-FFF2-40B4-BE49-F238E27FC236}">
                <a16:creationId xmlns:a16="http://schemas.microsoft.com/office/drawing/2014/main" id="{113E7576-D845-2A00-5ED9-AA2056EDD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Introduction to Evolve: </a:t>
            </a:r>
            <a:r>
              <a:rPr lang="en-GB" b="0"/>
              <a:t>Our business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A7A2A5-A9E8-7A8C-D1E0-C09B4C578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A16EAF-514F-BB98-327E-4753AB6EB4A4}"/>
              </a:ext>
            </a:extLst>
          </p:cNvPr>
          <p:cNvSpPr txBox="1"/>
          <p:nvPr/>
        </p:nvSpPr>
        <p:spPr>
          <a:xfrm>
            <a:off x="412752" y="1002362"/>
            <a:ext cx="8500171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en-US"/>
            </a:defPPr>
            <a:lvl1pPr>
              <a:defRPr sz="1050">
                <a:solidFill>
                  <a:srgbClr val="CD0028"/>
                </a:solidFill>
                <a:latin typeface="Readex Pro Light" pitchFamily="2" charset="-78"/>
                <a:cs typeface="Readex Pro Light" pitchFamily="2" charset="-78"/>
              </a:defRPr>
            </a:lvl1pPr>
          </a:lstStyle>
          <a:p>
            <a:r>
              <a:rPr lang="en-US" sz="1200" b="1">
                <a:solidFill>
                  <a:schemeClr val="accent1"/>
                </a:solidFill>
                <a:latin typeface="Aptos SemiBold" panose="020B0004020202020204" pitchFamily="34" charset="0"/>
              </a:rPr>
              <a:t>We are an independent corporate finance advisory firm committed to delivering excellent results through high quality, strategic advice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0FB4E5B-6BD7-CE5E-F8F4-0273539F6A2E}"/>
              </a:ext>
            </a:extLst>
          </p:cNvPr>
          <p:cNvGrpSpPr/>
          <p:nvPr/>
        </p:nvGrpSpPr>
        <p:grpSpPr>
          <a:xfrm>
            <a:off x="1024399" y="1575114"/>
            <a:ext cx="1785130" cy="1270492"/>
            <a:chOff x="445779" y="1466494"/>
            <a:chExt cx="1785130" cy="127049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BF20D6-60BB-967A-D59B-EE33940B5BF8}"/>
                </a:ext>
              </a:extLst>
            </p:cNvPr>
            <p:cNvSpPr txBox="1"/>
            <p:nvPr/>
          </p:nvSpPr>
          <p:spPr>
            <a:xfrm>
              <a:off x="445779" y="2353867"/>
              <a:ext cx="1785130" cy="383119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en-GB" sz="1000" b="1">
                  <a:solidFill>
                    <a:schemeClr val="accent2"/>
                  </a:solidFill>
                  <a:latin typeface="Aptos SemiBold" panose="020B0004020202020204" pitchFamily="34" charset="0"/>
                </a:rPr>
                <a:t>Partner level experience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F1C1772-A4A0-6FE4-8F2E-11A2E3F11D31}"/>
                </a:ext>
              </a:extLst>
            </p:cNvPr>
            <p:cNvSpPr txBox="1"/>
            <p:nvPr/>
          </p:nvSpPr>
          <p:spPr>
            <a:xfrm>
              <a:off x="493706" y="2050943"/>
              <a:ext cx="1689276" cy="383119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en-GB" sz="1600" b="1">
                  <a:solidFill>
                    <a:schemeClr val="accent2"/>
                  </a:solidFill>
                  <a:latin typeface="Aptos" panose="020B0004020202020204" pitchFamily="34" charset="0"/>
                </a:rPr>
                <a:t>100+ years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F30833D-7591-7CA4-9314-32332209A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978344" y="1466494"/>
              <a:ext cx="720000" cy="720000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7F669C5-2083-B96E-C4D0-CA5137C35781}"/>
              </a:ext>
            </a:extLst>
          </p:cNvPr>
          <p:cNvGrpSpPr/>
          <p:nvPr/>
        </p:nvGrpSpPr>
        <p:grpSpPr>
          <a:xfrm>
            <a:off x="2972586" y="1621087"/>
            <a:ext cx="1785130" cy="1200709"/>
            <a:chOff x="1704326" y="1536277"/>
            <a:chExt cx="1785130" cy="120070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2E8F69B-44A8-522A-B5FA-3101ED2A5181}"/>
                </a:ext>
              </a:extLst>
            </p:cNvPr>
            <p:cNvSpPr txBox="1"/>
            <p:nvPr/>
          </p:nvSpPr>
          <p:spPr>
            <a:xfrm>
              <a:off x="1704326" y="2353867"/>
              <a:ext cx="1785130" cy="383119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>
              <a:defPPr>
                <a:defRPr lang="en-US"/>
              </a:defPPr>
              <a:lvl1pPr algn="ctr">
                <a:defRPr sz="1000" b="1">
                  <a:solidFill>
                    <a:schemeClr val="accent2"/>
                  </a:solidFill>
                  <a:latin typeface="Aptos SemiBold" panose="020B0004020202020204" pitchFamily="34" charset="0"/>
                </a:defRPr>
              </a:lvl1pPr>
            </a:lstStyle>
            <a:p>
              <a:r>
                <a:rPr lang="en-GB"/>
                <a:t>5 partners</a:t>
              </a:r>
            </a:p>
            <a:p>
              <a:r>
                <a:rPr lang="en-GB"/>
                <a:t>7 deal team members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4074A9F-C35A-69C7-12D8-E1C1C5475B3B}"/>
                </a:ext>
              </a:extLst>
            </p:cNvPr>
            <p:cNvSpPr txBox="1"/>
            <p:nvPr/>
          </p:nvSpPr>
          <p:spPr>
            <a:xfrm>
              <a:off x="1704326" y="2050943"/>
              <a:ext cx="1785130" cy="383119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en-GB" sz="1600" b="1">
                  <a:solidFill>
                    <a:schemeClr val="accent2"/>
                  </a:solidFill>
                  <a:latin typeface="Aptos" panose="020B0004020202020204" pitchFamily="34" charset="0"/>
                </a:rPr>
                <a:t>12 employees</a:t>
              </a:r>
            </a:p>
          </p:txBody>
        </p:sp>
        <p:pic>
          <p:nvPicPr>
            <p:cNvPr id="23" name="Picture 22" descr="A group of people with a gear&#10;&#10;Description automatically generated">
              <a:extLst>
                <a:ext uri="{FF2B5EF4-FFF2-40B4-BE49-F238E27FC236}">
                  <a16:creationId xmlns:a16="http://schemas.microsoft.com/office/drawing/2014/main" id="{347AA9CC-EA75-2197-CB44-DE12A3A9D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07882" y="1536277"/>
              <a:ext cx="578018" cy="578018"/>
            </a:xfrm>
            <a:prstGeom prst="rect">
              <a:avLst/>
            </a:prstGeom>
            <a:noFill/>
          </p:spPr>
        </p:pic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A89E991D-649F-ECF4-89EF-0557104B561A}"/>
              </a:ext>
            </a:extLst>
          </p:cNvPr>
          <p:cNvSpPr txBox="1"/>
          <p:nvPr/>
        </p:nvSpPr>
        <p:spPr>
          <a:xfrm>
            <a:off x="7394049" y="1416284"/>
            <a:ext cx="1725082" cy="38311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GB" sz="1600" b="1">
                <a:solidFill>
                  <a:schemeClr val="accent2"/>
                </a:solidFill>
                <a:latin typeface="Aptos" panose="020B0004020202020204" pitchFamily="34" charset="0"/>
              </a:rPr>
              <a:t>3 locations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175CDBE-8768-59ED-FDCA-8D804240834E}"/>
              </a:ext>
            </a:extLst>
          </p:cNvPr>
          <p:cNvGrpSpPr/>
          <p:nvPr/>
        </p:nvGrpSpPr>
        <p:grpSpPr>
          <a:xfrm>
            <a:off x="1145513" y="3357725"/>
            <a:ext cx="1294295" cy="1152000"/>
            <a:chOff x="1145513" y="3436106"/>
            <a:chExt cx="1294295" cy="1152000"/>
          </a:xfrm>
        </p:grpSpPr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200B805A-CC1D-9C4D-F7B0-C1954E9B362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45513" y="3436106"/>
              <a:ext cx="1250994" cy="1152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89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3B00776-2EE5-6433-6F37-D11B8CDDBEC5}"/>
                </a:ext>
              </a:extLst>
            </p:cNvPr>
            <p:cNvSpPr txBox="1"/>
            <p:nvPr/>
          </p:nvSpPr>
          <p:spPr>
            <a:xfrm>
              <a:off x="1169268" y="4067424"/>
              <a:ext cx="1203484" cy="383119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>
              <a:defPPr>
                <a:defRPr lang="en-US"/>
              </a:defPPr>
              <a:lvl1pPr algn="ctr">
                <a:defRPr sz="1000" b="1">
                  <a:solidFill>
                    <a:schemeClr val="accent2"/>
                  </a:solidFill>
                  <a:latin typeface="Aptos SemiBold" panose="020B0004020202020204" pitchFamily="34" charset="0"/>
                </a:defRPr>
              </a:lvl1pPr>
            </a:lstStyle>
            <a:p>
              <a:r>
                <a:rPr lang="en-GB"/>
                <a:t>Deals completed each year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84A09D8-5EBA-3745-941F-523A68EF1BDD}"/>
                </a:ext>
              </a:extLst>
            </p:cNvPr>
            <p:cNvSpPr txBox="1"/>
            <p:nvPr/>
          </p:nvSpPr>
          <p:spPr>
            <a:xfrm>
              <a:off x="1169268" y="3590463"/>
              <a:ext cx="1270540" cy="383119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en-GB" sz="2400" b="1">
                  <a:solidFill>
                    <a:schemeClr val="tx2"/>
                  </a:solidFill>
                  <a:latin typeface="Aptos" panose="020B0004020202020204" pitchFamily="34" charset="0"/>
                </a:rPr>
                <a:t>10+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60E542C-4681-4EED-09CA-CB613E5CDF1C}"/>
              </a:ext>
            </a:extLst>
          </p:cNvPr>
          <p:cNvGrpSpPr/>
          <p:nvPr/>
        </p:nvGrpSpPr>
        <p:grpSpPr>
          <a:xfrm>
            <a:off x="3196007" y="3357725"/>
            <a:ext cx="1400392" cy="1152000"/>
            <a:chOff x="3196007" y="3436106"/>
            <a:chExt cx="1400392" cy="1152000"/>
          </a:xfrm>
        </p:grpSpPr>
        <p:sp>
          <p:nvSpPr>
            <p:cNvPr id="58" name="Rounded Rectangle 57">
              <a:extLst>
                <a:ext uri="{FF2B5EF4-FFF2-40B4-BE49-F238E27FC236}">
                  <a16:creationId xmlns:a16="http://schemas.microsoft.com/office/drawing/2014/main" id="{A2AE9AC9-6156-A449-6E29-982598A1CF2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54235" y="3436106"/>
              <a:ext cx="1250994" cy="1152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89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9A28AC3-4AEF-28C6-CAD7-A606304B3670}"/>
                </a:ext>
              </a:extLst>
            </p:cNvPr>
            <p:cNvSpPr txBox="1"/>
            <p:nvPr/>
          </p:nvSpPr>
          <p:spPr>
            <a:xfrm>
              <a:off x="3292681" y="4067424"/>
              <a:ext cx="1203484" cy="383119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>
              <a:defPPr>
                <a:defRPr lang="en-US"/>
              </a:defPPr>
              <a:lvl1pPr algn="ctr">
                <a:defRPr sz="1000" b="1">
                  <a:solidFill>
                    <a:schemeClr val="accent2"/>
                  </a:solidFill>
                  <a:latin typeface="Aptos SemiBold" panose="020B0004020202020204" pitchFamily="34" charset="0"/>
                </a:defRPr>
              </a:lvl1pPr>
            </a:lstStyle>
            <a:p>
              <a:r>
                <a:rPr lang="en-GB"/>
                <a:t>Deals size sweet spot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C2E8CFA-A03A-7149-1281-4D48029726BE}"/>
                </a:ext>
              </a:extLst>
            </p:cNvPr>
            <p:cNvSpPr txBox="1"/>
            <p:nvPr/>
          </p:nvSpPr>
          <p:spPr>
            <a:xfrm>
              <a:off x="3196007" y="3631407"/>
              <a:ext cx="1400392" cy="383119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>
              <a:defPPr>
                <a:defRPr lang="en-US"/>
              </a:defPPr>
              <a:lvl1pPr algn="ctr">
                <a:defRPr sz="2800" b="1">
                  <a:solidFill>
                    <a:schemeClr val="tx2"/>
                  </a:solidFill>
                  <a:latin typeface="Aptos" panose="020B0004020202020204" pitchFamily="34" charset="0"/>
                </a:defRPr>
              </a:lvl1pPr>
            </a:lstStyle>
            <a:p>
              <a:r>
                <a:rPr lang="en-GB" sz="1800"/>
                <a:t>£5m - £75m</a:t>
              </a:r>
            </a:p>
          </p:txBody>
        </p:sp>
      </p:grp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613A4092-41AC-3466-41AF-CB7211683DDF}"/>
              </a:ext>
            </a:extLst>
          </p:cNvPr>
          <p:cNvCxnSpPr>
            <a:cxnSpLocks/>
          </p:cNvCxnSpPr>
          <p:nvPr/>
        </p:nvCxnSpPr>
        <p:spPr>
          <a:xfrm>
            <a:off x="751210" y="3063818"/>
            <a:ext cx="6588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8" name="TextBox 1037">
            <a:extLst>
              <a:ext uri="{FF2B5EF4-FFF2-40B4-BE49-F238E27FC236}">
                <a16:creationId xmlns:a16="http://schemas.microsoft.com/office/drawing/2014/main" id="{D822B9AC-114B-D8BF-24B9-82EE341D3008}"/>
              </a:ext>
            </a:extLst>
          </p:cNvPr>
          <p:cNvSpPr txBox="1"/>
          <p:nvPr/>
        </p:nvSpPr>
        <p:spPr>
          <a:xfrm>
            <a:off x="3020381" y="2879152"/>
            <a:ext cx="178513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tx2"/>
                </a:solidFill>
              </a:rPr>
              <a:t>Deal statistics</a:t>
            </a:r>
          </a:p>
        </p:txBody>
      </p:sp>
      <p:grpSp>
        <p:nvGrpSpPr>
          <p:cNvPr id="1070" name="Group 1069">
            <a:extLst>
              <a:ext uri="{FF2B5EF4-FFF2-40B4-BE49-F238E27FC236}">
                <a16:creationId xmlns:a16="http://schemas.microsoft.com/office/drawing/2014/main" id="{890F297F-A5A4-0F70-4231-DFA93BFCA781}"/>
              </a:ext>
            </a:extLst>
          </p:cNvPr>
          <p:cNvGrpSpPr/>
          <p:nvPr/>
        </p:nvGrpSpPr>
        <p:grpSpPr>
          <a:xfrm>
            <a:off x="6912607" y="1816548"/>
            <a:ext cx="2611740" cy="4023496"/>
            <a:chOff x="6912607" y="1884788"/>
            <a:chExt cx="2611740" cy="402349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0EBD0950-A49C-EEE0-A6C3-C2E6A9A4F3E9}"/>
                </a:ext>
              </a:extLst>
            </p:cNvPr>
            <p:cNvGrpSpPr/>
            <p:nvPr/>
          </p:nvGrpSpPr>
          <p:grpSpPr>
            <a:xfrm>
              <a:off x="6912607" y="1884788"/>
              <a:ext cx="2611740" cy="4023496"/>
              <a:chOff x="7167567" y="1755191"/>
              <a:chExt cx="2346559" cy="3577117"/>
            </a:xfrm>
          </p:grpSpPr>
          <p:pic>
            <p:nvPicPr>
              <p:cNvPr id="3074" name="Picture 2" descr="Uk, Map, Vantage Clip Art at Clker.com - vector clip art online, royalty  free &amp; public domain">
                <a:extLst>
                  <a:ext uri="{FF2B5EF4-FFF2-40B4-BE49-F238E27FC236}">
                    <a16:creationId xmlns:a16="http://schemas.microsoft.com/office/drawing/2014/main" id="{2C218557-38EF-93ED-5259-B85608AA6B2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67567" y="1755191"/>
                <a:ext cx="2301113" cy="357711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C100451-65AB-6CA3-66D1-405D902416CF}"/>
                  </a:ext>
                </a:extLst>
              </p:cNvPr>
              <p:cNvSpPr txBox="1"/>
              <p:nvPr/>
            </p:nvSpPr>
            <p:spPr>
              <a:xfrm>
                <a:off x="8117464" y="4076201"/>
                <a:ext cx="1203484" cy="2223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algn="ctr"/>
                <a:r>
                  <a:rPr lang="en-GB" sz="1000" b="1">
                    <a:solidFill>
                      <a:schemeClr val="bg1"/>
                    </a:solidFill>
                    <a:latin typeface="Aptos" panose="020B0004020202020204" pitchFamily="34" charset="0"/>
                  </a:rPr>
                  <a:t>Nottingham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144D411-9FC1-3BFD-CB61-559FA457A8F9}"/>
                  </a:ext>
                </a:extLst>
              </p:cNvPr>
              <p:cNvSpPr txBox="1"/>
              <p:nvPr/>
            </p:nvSpPr>
            <p:spPr>
              <a:xfrm>
                <a:off x="7834194" y="4544938"/>
                <a:ext cx="1203484" cy="2223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algn="ctr"/>
                <a:r>
                  <a:rPr lang="en-GB" sz="1000" b="1">
                    <a:solidFill>
                      <a:schemeClr val="bg1"/>
                    </a:solidFill>
                    <a:latin typeface="Aptos" panose="020B0004020202020204" pitchFamily="34" charset="0"/>
                  </a:rPr>
                  <a:t>Birmingham (HQ)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0F1CB3B-86A6-441E-FD55-B9CF15B83282}"/>
                  </a:ext>
                </a:extLst>
              </p:cNvPr>
              <p:cNvSpPr txBox="1"/>
              <p:nvPr/>
            </p:nvSpPr>
            <p:spPr>
              <a:xfrm>
                <a:off x="8310642" y="4972549"/>
                <a:ext cx="1203484" cy="2223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algn="ctr"/>
                <a:r>
                  <a:rPr lang="en-GB" sz="1000" b="1">
                    <a:solidFill>
                      <a:schemeClr val="bg1"/>
                    </a:solidFill>
                    <a:latin typeface="Aptos" panose="020B0004020202020204" pitchFamily="34" charset="0"/>
                  </a:rPr>
                  <a:t>London</a:t>
                </a:r>
              </a:p>
            </p:txBody>
          </p:sp>
        </p:grpSp>
        <p:sp>
          <p:nvSpPr>
            <p:cNvPr id="1047" name="Rectangle 1046">
              <a:extLst>
                <a:ext uri="{FF2B5EF4-FFF2-40B4-BE49-F238E27FC236}">
                  <a16:creationId xmlns:a16="http://schemas.microsoft.com/office/drawing/2014/main" id="{9CF26ED1-100A-8222-0183-D8058095F057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8615638" y="4750647"/>
              <a:ext cx="139531" cy="1395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ptos" panose="020B0004020202020204" pitchFamily="34" charset="0"/>
              </a:endParaRPr>
            </a:p>
          </p:txBody>
        </p:sp>
        <p:sp>
          <p:nvSpPr>
            <p:cNvPr id="1048" name="Rectangle 1047">
              <a:extLst>
                <a:ext uri="{FF2B5EF4-FFF2-40B4-BE49-F238E27FC236}">
                  <a16:creationId xmlns:a16="http://schemas.microsoft.com/office/drawing/2014/main" id="{E38D1AAB-2903-338A-CA3B-4F83F4B07AB7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8290986" y="4894061"/>
              <a:ext cx="139531" cy="1395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ptos" panose="020B0004020202020204" pitchFamily="34" charset="0"/>
              </a:endParaRPr>
            </a:p>
          </p:txBody>
        </p:sp>
        <p:sp>
          <p:nvSpPr>
            <p:cNvPr id="1050" name="Rectangle 1049">
              <a:extLst>
                <a:ext uri="{FF2B5EF4-FFF2-40B4-BE49-F238E27FC236}">
                  <a16:creationId xmlns:a16="http://schemas.microsoft.com/office/drawing/2014/main" id="{600D57DD-66EC-B9D2-C069-08FAD0BEE490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8744494" y="5370144"/>
              <a:ext cx="139531" cy="13953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ptos" panose="020B0004020202020204" pitchFamily="34" charset="0"/>
              </a:endParaRPr>
            </a:p>
          </p:txBody>
        </p:sp>
      </p:grp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933BF22D-1209-155B-48A6-C337691342A7}"/>
              </a:ext>
            </a:extLst>
          </p:cNvPr>
          <p:cNvSpPr>
            <a:spLocks noChangeAspect="1"/>
          </p:cNvSpPr>
          <p:nvPr/>
        </p:nvSpPr>
        <p:spPr>
          <a:xfrm rot="2700000">
            <a:off x="671493" y="2994052"/>
            <a:ext cx="139531" cy="1395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1065" name="Rectangle 1064">
            <a:extLst>
              <a:ext uri="{FF2B5EF4-FFF2-40B4-BE49-F238E27FC236}">
                <a16:creationId xmlns:a16="http://schemas.microsoft.com/office/drawing/2014/main" id="{48416A35-1897-7A35-B2C6-402A2EA7D862}"/>
              </a:ext>
            </a:extLst>
          </p:cNvPr>
          <p:cNvSpPr>
            <a:spLocks noChangeAspect="1"/>
          </p:cNvSpPr>
          <p:nvPr/>
        </p:nvSpPr>
        <p:spPr>
          <a:xfrm rot="2700000">
            <a:off x="7767520" y="5841155"/>
            <a:ext cx="139531" cy="1395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1066" name="Rectangle 1065">
            <a:extLst>
              <a:ext uri="{FF2B5EF4-FFF2-40B4-BE49-F238E27FC236}">
                <a16:creationId xmlns:a16="http://schemas.microsoft.com/office/drawing/2014/main" id="{DF7100F2-18A5-C571-8967-BD599FA9B074}"/>
              </a:ext>
            </a:extLst>
          </p:cNvPr>
          <p:cNvSpPr>
            <a:spLocks noChangeAspect="1"/>
          </p:cNvSpPr>
          <p:nvPr/>
        </p:nvSpPr>
        <p:spPr>
          <a:xfrm rot="2700000">
            <a:off x="7767520" y="6046686"/>
            <a:ext cx="139531" cy="1395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053819EE-9C1A-7594-25D5-C628E0A4632F}"/>
              </a:ext>
            </a:extLst>
          </p:cNvPr>
          <p:cNvSpPr txBox="1"/>
          <p:nvPr/>
        </p:nvSpPr>
        <p:spPr>
          <a:xfrm>
            <a:off x="7827230" y="5810664"/>
            <a:ext cx="1339488" cy="2501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GB" sz="1000" b="1">
                <a:solidFill>
                  <a:schemeClr val="tx2"/>
                </a:solidFill>
                <a:latin typeface="Aptos" panose="020B0004020202020204" pitchFamily="34" charset="0"/>
              </a:rPr>
              <a:t>Physical office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084A4A68-D866-D3E5-D689-0D271A968C18}"/>
              </a:ext>
            </a:extLst>
          </p:cNvPr>
          <p:cNvSpPr txBox="1"/>
          <p:nvPr/>
        </p:nvSpPr>
        <p:spPr>
          <a:xfrm>
            <a:off x="7827230" y="5996432"/>
            <a:ext cx="1339488" cy="2501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GB" sz="1000" b="1">
                <a:solidFill>
                  <a:schemeClr val="tx2"/>
                </a:solidFill>
                <a:latin typeface="Aptos" panose="020B0004020202020204" pitchFamily="34" charset="0"/>
              </a:rPr>
              <a:t>Satellite office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5E3BAC1-9A41-4167-064E-9BB964E82C1C}"/>
              </a:ext>
            </a:extLst>
          </p:cNvPr>
          <p:cNvGrpSpPr/>
          <p:nvPr/>
        </p:nvGrpSpPr>
        <p:grpSpPr>
          <a:xfrm>
            <a:off x="5167586" y="1518860"/>
            <a:ext cx="1786036" cy="1283498"/>
            <a:chOff x="3498513" y="1460807"/>
            <a:chExt cx="1786036" cy="1283498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1405B8F-6522-8C56-486C-ADD279FFF0BE}"/>
                </a:ext>
              </a:extLst>
            </p:cNvPr>
            <p:cNvSpPr txBox="1"/>
            <p:nvPr/>
          </p:nvSpPr>
          <p:spPr>
            <a:xfrm>
              <a:off x="3498966" y="2361186"/>
              <a:ext cx="1785130" cy="383119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>
              <a:defPPr>
                <a:defRPr lang="en-US"/>
              </a:defPPr>
              <a:lvl1pPr algn="ctr">
                <a:defRPr sz="1000" b="1">
                  <a:solidFill>
                    <a:schemeClr val="accent2"/>
                  </a:solidFill>
                  <a:latin typeface="Aptos SemiBold" panose="020B0004020202020204" pitchFamily="34" charset="0"/>
                </a:defRPr>
              </a:lvl1pPr>
            </a:lstStyle>
            <a:p>
              <a:r>
                <a:rPr lang="en-GB"/>
                <a:t>Sell | Buy | Debt</a:t>
              </a:r>
            </a:p>
            <a:p>
              <a:r>
                <a:rPr lang="en-GB"/>
                <a:t>Equity | Retained advisory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BC1CF9D-B3A8-4BEF-CACF-451FF0384BB8}"/>
                </a:ext>
              </a:extLst>
            </p:cNvPr>
            <p:cNvSpPr txBox="1"/>
            <p:nvPr/>
          </p:nvSpPr>
          <p:spPr>
            <a:xfrm>
              <a:off x="3498513" y="2050943"/>
              <a:ext cx="1786036" cy="383119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en-GB" sz="1600" b="1">
                  <a:solidFill>
                    <a:schemeClr val="accent2"/>
                  </a:solidFill>
                  <a:latin typeface="Aptos" panose="020B0004020202020204" pitchFamily="34" charset="0"/>
                </a:rPr>
                <a:t>5 key capabilities</a:t>
              </a:r>
            </a:p>
          </p:txBody>
        </p:sp>
        <p:pic>
          <p:nvPicPr>
            <p:cNvPr id="1072" name="Graphic 1071" descr="Scientific Thought with solid fill">
              <a:extLst>
                <a:ext uri="{FF2B5EF4-FFF2-40B4-BE49-F238E27FC236}">
                  <a16:creationId xmlns:a16="http://schemas.microsoft.com/office/drawing/2014/main" id="{3D78EBF0-DBA5-E4EE-E04A-3ADEC35962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031531" y="1460807"/>
              <a:ext cx="720000" cy="720000"/>
            </a:xfrm>
            <a:prstGeom prst="rect">
              <a:avLst/>
            </a:prstGeom>
          </p:spPr>
        </p:pic>
      </p:grpSp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82FB57E4-0168-0E5E-9E24-E3BA374223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9918438"/>
              </p:ext>
            </p:extLst>
          </p:nvPr>
        </p:nvGraphicFramePr>
        <p:xfrm>
          <a:off x="532164" y="4606813"/>
          <a:ext cx="2543641" cy="16376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0EE9AEA4-9C88-EC46-1C8F-0318CF78F987}"/>
              </a:ext>
            </a:extLst>
          </p:cNvPr>
          <p:cNvSpPr txBox="1"/>
          <p:nvPr/>
        </p:nvSpPr>
        <p:spPr>
          <a:xfrm>
            <a:off x="1205420" y="4978051"/>
            <a:ext cx="1270540" cy="38311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GB" sz="2400" b="1">
                <a:solidFill>
                  <a:schemeClr val="tx2"/>
                </a:solidFill>
                <a:latin typeface="Aptos" panose="020B0004020202020204" pitchFamily="34" charset="0"/>
              </a:rPr>
              <a:t>73%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2CF83B-257C-EE07-31C9-ECC8CB9898DA}"/>
              </a:ext>
            </a:extLst>
          </p:cNvPr>
          <p:cNvSpPr txBox="1"/>
          <p:nvPr/>
        </p:nvSpPr>
        <p:spPr>
          <a:xfrm>
            <a:off x="1239149" y="5343473"/>
            <a:ext cx="1116193" cy="421849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en-US"/>
            </a:defPPr>
            <a:lvl1pPr algn="ctr">
              <a:defRPr sz="1000" b="1">
                <a:solidFill>
                  <a:schemeClr val="accent2"/>
                </a:solidFill>
                <a:latin typeface="Aptos SemiBold" panose="020B000402020202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GB"/>
              <a:t>Businesses sold to overseas buyers</a:t>
            </a:r>
          </a:p>
        </p:txBody>
      </p:sp>
      <p:graphicFrame>
        <p:nvGraphicFramePr>
          <p:cNvPr id="33" name="Chart 32">
            <a:extLst>
              <a:ext uri="{FF2B5EF4-FFF2-40B4-BE49-F238E27FC236}">
                <a16:creationId xmlns:a16="http://schemas.microsoft.com/office/drawing/2014/main" id="{8D771C4B-BD0B-3753-3E8E-9B918882B2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3460056"/>
              </p:ext>
            </p:extLst>
          </p:nvPr>
        </p:nvGraphicFramePr>
        <p:xfrm>
          <a:off x="2662890" y="4617708"/>
          <a:ext cx="2543641" cy="16376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58A29681-4D15-55AE-9AF6-D51C40135C72}"/>
              </a:ext>
            </a:extLst>
          </p:cNvPr>
          <p:cNvSpPr txBox="1"/>
          <p:nvPr/>
        </p:nvSpPr>
        <p:spPr>
          <a:xfrm>
            <a:off x="3325101" y="4980208"/>
            <a:ext cx="1270540" cy="38311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GB" sz="2400" b="1">
                <a:solidFill>
                  <a:schemeClr val="tx2"/>
                </a:solidFill>
                <a:latin typeface="Aptos" panose="020B0004020202020204" pitchFamily="34" charset="0"/>
              </a:rPr>
              <a:t>67%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A9144D-E37A-6ABF-4777-6BDF3B46D2B9}"/>
              </a:ext>
            </a:extLst>
          </p:cNvPr>
          <p:cNvSpPr txBox="1"/>
          <p:nvPr/>
        </p:nvSpPr>
        <p:spPr>
          <a:xfrm>
            <a:off x="3359711" y="5387330"/>
            <a:ext cx="1190899" cy="383119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en-US"/>
            </a:defPPr>
            <a:lvl1pPr algn="ctr">
              <a:defRPr sz="1000" b="1">
                <a:solidFill>
                  <a:schemeClr val="accent2"/>
                </a:solidFill>
                <a:latin typeface="Aptos SemiBold" panose="020B000402020202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GB"/>
              <a:t>Deals involving PE</a:t>
            </a:r>
          </a:p>
        </p:txBody>
      </p:sp>
      <p:graphicFrame>
        <p:nvGraphicFramePr>
          <p:cNvPr id="36" name="Chart 35">
            <a:extLst>
              <a:ext uri="{FF2B5EF4-FFF2-40B4-BE49-F238E27FC236}">
                <a16:creationId xmlns:a16="http://schemas.microsoft.com/office/drawing/2014/main" id="{ADC04AFD-5724-A85A-3F7F-8CA7FE0224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4645704"/>
              </p:ext>
            </p:extLst>
          </p:nvPr>
        </p:nvGraphicFramePr>
        <p:xfrm>
          <a:off x="4722629" y="4612096"/>
          <a:ext cx="2543641" cy="16376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pSp>
        <p:nvGrpSpPr>
          <p:cNvPr id="47" name="Group 46">
            <a:extLst>
              <a:ext uri="{FF2B5EF4-FFF2-40B4-BE49-F238E27FC236}">
                <a16:creationId xmlns:a16="http://schemas.microsoft.com/office/drawing/2014/main" id="{FF1E542F-64ED-BCD9-15E8-ECC2B77F9753}"/>
              </a:ext>
            </a:extLst>
          </p:cNvPr>
          <p:cNvGrpSpPr/>
          <p:nvPr/>
        </p:nvGrpSpPr>
        <p:grpSpPr>
          <a:xfrm>
            <a:off x="5536828" y="5123981"/>
            <a:ext cx="530598" cy="627838"/>
            <a:chOff x="5536828" y="5126950"/>
            <a:chExt cx="530598" cy="627838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A61C9F4-378F-453B-D029-A4E7A687D6D1}"/>
                </a:ext>
              </a:extLst>
            </p:cNvPr>
            <p:cNvSpPr txBox="1"/>
            <p:nvPr/>
          </p:nvSpPr>
          <p:spPr>
            <a:xfrm>
              <a:off x="5536828" y="5126950"/>
              <a:ext cx="530598" cy="30723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en-GB" sz="1400" b="1">
                  <a:solidFill>
                    <a:schemeClr val="accent1"/>
                  </a:solidFill>
                  <a:latin typeface="Aptos" panose="020B0004020202020204" pitchFamily="34" charset="0"/>
                </a:rPr>
                <a:t>80%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6C531FF-C1F8-6ECD-600E-764BA40DD7F0}"/>
                </a:ext>
              </a:extLst>
            </p:cNvPr>
            <p:cNvSpPr txBox="1"/>
            <p:nvPr/>
          </p:nvSpPr>
          <p:spPr>
            <a:xfrm>
              <a:off x="5536828" y="5371669"/>
              <a:ext cx="530598" cy="383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189"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GB" sz="1050" b="1">
                  <a:solidFill>
                    <a:schemeClr val="accent1"/>
                  </a:solidFill>
                  <a:latin typeface="Aptos SemiBold" panose="020B0004020202020204" pitchFamily="34" charset="0"/>
                </a:rPr>
                <a:t>Sell side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1D6A295-CE82-BE0D-5DAE-F6BB27FA840D}"/>
              </a:ext>
            </a:extLst>
          </p:cNvPr>
          <p:cNvGrpSpPr/>
          <p:nvPr/>
        </p:nvGrpSpPr>
        <p:grpSpPr>
          <a:xfrm>
            <a:off x="5873548" y="5122393"/>
            <a:ext cx="652240" cy="631015"/>
            <a:chOff x="5873548" y="5121012"/>
            <a:chExt cx="652240" cy="631015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0CDE9C0-055D-B86F-F955-524FC56110B3}"/>
                </a:ext>
              </a:extLst>
            </p:cNvPr>
            <p:cNvSpPr txBox="1"/>
            <p:nvPr/>
          </p:nvSpPr>
          <p:spPr>
            <a:xfrm>
              <a:off x="5933937" y="5121012"/>
              <a:ext cx="531463" cy="319106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en-GB" sz="1400" b="1">
                  <a:solidFill>
                    <a:schemeClr val="tx2"/>
                  </a:solidFill>
                  <a:latin typeface="Aptos" panose="020B0004020202020204" pitchFamily="34" charset="0"/>
                </a:rPr>
                <a:t>20%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F7AA399-9665-5E35-64D5-C7C5B3DEC437}"/>
                </a:ext>
              </a:extLst>
            </p:cNvPr>
            <p:cNvSpPr txBox="1"/>
            <p:nvPr/>
          </p:nvSpPr>
          <p:spPr>
            <a:xfrm>
              <a:off x="5873548" y="5368908"/>
              <a:ext cx="652240" cy="383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189"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GB" sz="1050" b="1">
                  <a:solidFill>
                    <a:schemeClr val="tx2"/>
                  </a:solidFill>
                  <a:latin typeface="Aptos SemiBold" panose="020B0004020202020204" pitchFamily="34" charset="0"/>
                </a:rPr>
                <a:t>Buy side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972804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ustom 1">
      <a:dk1>
        <a:srgbClr val="000000"/>
      </a:dk1>
      <a:lt1>
        <a:srgbClr val="FFFFFF"/>
      </a:lt1>
      <a:dk2>
        <a:srgbClr val="2A2E6D"/>
      </a:dk2>
      <a:lt2>
        <a:srgbClr val="FFFFFF"/>
      </a:lt2>
      <a:accent1>
        <a:srgbClr val="E51F32"/>
      </a:accent1>
      <a:accent2>
        <a:srgbClr val="2A2E6D"/>
      </a:accent2>
      <a:accent3>
        <a:srgbClr val="EF7B0E"/>
      </a:accent3>
      <a:accent4>
        <a:srgbClr val="EFBA17"/>
      </a:accent4>
      <a:accent5>
        <a:srgbClr val="4690C5"/>
      </a:accent5>
      <a:accent6>
        <a:srgbClr val="A1A2A2"/>
      </a:accent6>
      <a:hlink>
        <a:srgbClr val="2A2E6D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New_A4">
  <a:themeElements>
    <a:clrScheme name="Custom 1">
      <a:dk1>
        <a:srgbClr val="000000"/>
      </a:dk1>
      <a:lt1>
        <a:srgbClr val="FFFFFF"/>
      </a:lt1>
      <a:dk2>
        <a:srgbClr val="2A2E6D"/>
      </a:dk2>
      <a:lt2>
        <a:srgbClr val="FFFFFF"/>
      </a:lt2>
      <a:accent1>
        <a:srgbClr val="E51F32"/>
      </a:accent1>
      <a:accent2>
        <a:srgbClr val="2A2E6D"/>
      </a:accent2>
      <a:accent3>
        <a:srgbClr val="EF7B0E"/>
      </a:accent3>
      <a:accent4>
        <a:srgbClr val="EFBA17"/>
      </a:accent4>
      <a:accent5>
        <a:srgbClr val="4690C5"/>
      </a:accent5>
      <a:accent6>
        <a:srgbClr val="A1A2A2"/>
      </a:accent6>
      <a:hlink>
        <a:srgbClr val="2A2E6D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Custom Design">
  <a:themeElements>
    <a:clrScheme name="Custom 1">
      <a:dk1>
        <a:srgbClr val="000000"/>
      </a:dk1>
      <a:lt1>
        <a:srgbClr val="FFFFFF"/>
      </a:lt1>
      <a:dk2>
        <a:srgbClr val="2A2E6D"/>
      </a:dk2>
      <a:lt2>
        <a:srgbClr val="FFFFFF"/>
      </a:lt2>
      <a:accent1>
        <a:srgbClr val="E51F32"/>
      </a:accent1>
      <a:accent2>
        <a:srgbClr val="2A2E6D"/>
      </a:accent2>
      <a:accent3>
        <a:srgbClr val="EF7B0E"/>
      </a:accent3>
      <a:accent4>
        <a:srgbClr val="EFBA17"/>
      </a:accent4>
      <a:accent5>
        <a:srgbClr val="4690C5"/>
      </a:accent5>
      <a:accent6>
        <a:srgbClr val="A1A2A2"/>
      </a:accent6>
      <a:hlink>
        <a:srgbClr val="2A2E6D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ECF">
  <a:themeElements>
    <a:clrScheme name="ECF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A2C69"/>
      </a:accent1>
      <a:accent2>
        <a:srgbClr val="E51F32"/>
      </a:accent2>
      <a:accent3>
        <a:srgbClr val="05AD00"/>
      </a:accent3>
      <a:accent4>
        <a:srgbClr val="FFC000"/>
      </a:accent4>
      <a:accent5>
        <a:srgbClr val="5B9BD5"/>
      </a:accent5>
      <a:accent6>
        <a:srgbClr val="9949A2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CF" id="{DB469C05-32DE-E24C-9957-FDFA5EA6D1F0}" vid="{58660C09-3EE2-2D40-AC93-28B5C00391E1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31C1968A4D89499CDD50A8814E1C4F" ma:contentTypeVersion="17" ma:contentTypeDescription="Create a new document." ma:contentTypeScope="" ma:versionID="c1b9ba3f94d72ee9fc912929582494b1">
  <xsd:schema xmlns:xsd="http://www.w3.org/2001/XMLSchema" xmlns:xs="http://www.w3.org/2001/XMLSchema" xmlns:p="http://schemas.microsoft.com/office/2006/metadata/properties" xmlns:ns2="a7718941-dbc8-459f-ad28-820052d2f2ef" xmlns:ns3="248e8c60-e60e-40b3-9b6a-c495bb3dbde9" targetNamespace="http://schemas.microsoft.com/office/2006/metadata/properties" ma:root="true" ma:fieldsID="64cae9980867b5011cc55bde4e287d58" ns2:_="" ns3:_="">
    <xsd:import namespace="a7718941-dbc8-459f-ad28-820052d2f2ef"/>
    <xsd:import namespace="248e8c60-e60e-40b3-9b6a-c495bb3dbde9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MediaServiceLocation" minOccurs="0"/>
                <xsd:element ref="ns3:MediaServiceObjectDetectorVersions" minOccurs="0"/>
                <xsd:element ref="ns3:MediaServiceSearchProperties" minOccurs="0"/>
                <xsd:element ref="ns3:MediaLengthInSecond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718941-dbc8-459f-ad28-820052d2f2e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787b0c8b-571e-408c-9926-7b0457a13db1}" ma:internalName="TaxCatchAll" ma:showField="CatchAllData" ma:web="a7718941-dbc8-459f-ad28-820052d2f2e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8e8c60-e60e-40b3-9b6a-c495bb3dbd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a561702-a391-4b9b-9574-6bd21276eaf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7718941-dbc8-459f-ad28-820052d2f2ef" xsi:nil="true"/>
    <lcf76f155ced4ddcb4097134ff3c332f xmlns="248e8c60-e60e-40b3-9b6a-c495bb3dbde9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2CCFC95-89A3-48EF-A55A-8D9A4DB9D90D}">
  <ds:schemaRefs>
    <ds:schemaRef ds:uri="248e8c60-e60e-40b3-9b6a-c495bb3dbde9"/>
    <ds:schemaRef ds:uri="a7718941-dbc8-459f-ad28-820052d2f2e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C03C5E8-6E73-4A29-90A5-6BDD54A3FA10}">
  <ds:schemaRefs>
    <ds:schemaRef ds:uri="http://www.w3.org/XML/1998/namespace"/>
    <ds:schemaRef ds:uri="a7718941-dbc8-459f-ad28-820052d2f2ef"/>
    <ds:schemaRef ds:uri="http://purl.org/dc/elements/1.1/"/>
    <ds:schemaRef ds:uri="http://schemas.microsoft.com/office/2006/documentManagement/types"/>
    <ds:schemaRef ds:uri="248e8c60-e60e-40b3-9b6a-c495bb3dbde9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F7DB28BE-4CC0-4691-9CA5-2BA850A6793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114</Words>
  <Application>Microsoft Macintosh PowerPoint</Application>
  <PresentationFormat>A4 Paper (210x297 mm)</PresentationFormat>
  <Paragraphs>33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15" baseType="lpstr">
      <vt:lpstr>Aptos</vt:lpstr>
      <vt:lpstr>Aptos Light</vt:lpstr>
      <vt:lpstr>Aptos SemiBold</vt:lpstr>
      <vt:lpstr>Arial</vt:lpstr>
      <vt:lpstr>Calibri</vt:lpstr>
      <vt:lpstr>Calibri Light</vt:lpstr>
      <vt:lpstr>Readex Pro ExtraLight</vt:lpstr>
      <vt:lpstr>Readex Pro Light</vt:lpstr>
      <vt:lpstr>Readex Pro Medium</vt:lpstr>
      <vt:lpstr>Wingdings</vt:lpstr>
      <vt:lpstr>Custom Design</vt:lpstr>
      <vt:lpstr>New_A4</vt:lpstr>
      <vt:lpstr>Custom Design</vt:lpstr>
      <vt:lpstr>ECF</vt:lpstr>
      <vt:lpstr>Introduction to Evolve: Our business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Tom Hammond</cp:lastModifiedBy>
  <cp:revision>3</cp:revision>
  <cp:lastPrinted>2026-01-27T10:56:40Z</cp:lastPrinted>
  <dcterms:created xsi:type="dcterms:W3CDTF">2025-05-19T19:42:23Z</dcterms:created>
  <dcterms:modified xsi:type="dcterms:W3CDTF">2026-03-19T15:24:44Z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0x0101003331C1968A4D89499CDD50A8814E1C4F</vt:lpwstr>
  </property>
  <property fmtid="{D5CDD505-2E9C-101B-9397-08002B2CF9AE}" pid="3" name="MediaServiceImageTags">
    <vt:lpwstr/>
  </property>
</Properties>
</file>